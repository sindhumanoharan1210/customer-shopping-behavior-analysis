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embeddedFontLst>
    <p:embeddedFont>
      <p:font typeface="Consolas" panose="020B0609020204030204" pitchFamily="49" charset="0"/>
      <p:regular r:id="rId12"/>
      <p:bold r:id="rId13"/>
      <p:italic r:id="rId14"/>
      <p:boldItalic r:id="rId15"/>
    </p:embeddedFont>
    <p:embeddedFont>
      <p:font typeface="Inter" panose="020B0604020202020204" charset="0"/>
      <p:regular r:id="rId16"/>
    </p:embeddedFont>
    <p:embeddedFont>
      <p:font typeface="Inter Bold" panose="020B0604020202020204" charset="0"/>
      <p:regular r:id="rId17"/>
    </p:embeddedFont>
    <p:embeddedFont>
      <p:font typeface="Petrona Bold" panose="020B0604020202020204" charset="0"/>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4" d="100"/>
          <a:sy n="84" d="100"/>
        </p:scale>
        <p:origin x="629"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6461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2213372"/>
            <a:ext cx="6296860" cy="1240433"/>
          </a:xfrm>
          <a:prstGeom prst="rect">
            <a:avLst/>
          </a:prstGeom>
          <a:noFill/>
          <a:ln/>
        </p:spPr>
        <p:txBody>
          <a:bodyPr wrap="square" lIns="0" tIns="0" rIns="0" bIns="0" rtlCol="0" anchor="t">
            <a:normAutofit/>
          </a:bodyPr>
          <a:lstStyle/>
          <a:p>
            <a:pPr marL="0" indent="0" algn="l">
              <a:lnSpc>
                <a:spcPct val="104000"/>
              </a:lnSpc>
              <a:buNone/>
            </a:pPr>
            <a:r>
              <a:rPr lang="en-US" sz="3900" b="1" dirty="0">
                <a:solidFill>
                  <a:srgbClr val="000000"/>
                </a:solidFill>
                <a:latin typeface="Petrona Bold" pitchFamily="34" charset="0"/>
                <a:ea typeface="Petrona Bold" pitchFamily="34" charset="-122"/>
                <a:cs typeface="Petrona Bold" pitchFamily="34" charset="-120"/>
              </a:rPr>
              <a:t>Customer Shopping Behavior Analysis</a:t>
            </a:r>
            <a:endParaRPr lang="en-US" sz="3900" dirty="0"/>
          </a:p>
        </p:txBody>
      </p:sp>
      <p:sp>
        <p:nvSpPr>
          <p:cNvPr id="4" name="Text 1"/>
          <p:cNvSpPr/>
          <p:nvPr/>
        </p:nvSpPr>
        <p:spPr>
          <a:xfrm>
            <a:off x="661475" y="3737273"/>
            <a:ext cx="6296860"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Analyzing </a:t>
            </a:r>
            <a:r>
              <a:rPr lang="en-US" sz="1450" b="1" dirty="0">
                <a:solidFill>
                  <a:srgbClr val="272525"/>
                </a:solidFill>
                <a:latin typeface="Inter Bold" pitchFamily="34" charset="0"/>
                <a:ea typeface="Inter Bold" pitchFamily="34" charset="-122"/>
                <a:cs typeface="Inter Bold" pitchFamily="34" charset="-120"/>
              </a:rPr>
              <a:t>3,900 transactions</a:t>
            </a:r>
            <a:r>
              <a:rPr lang="en-US" sz="1450" dirty="0">
                <a:solidFill>
                  <a:srgbClr val="272525"/>
                </a:solidFill>
                <a:latin typeface="Inter" pitchFamily="34" charset="0"/>
                <a:ea typeface="Inter" pitchFamily="34" charset="-122"/>
                <a:cs typeface="Inter" pitchFamily="34" charset="-120"/>
              </a:rPr>
              <a:t> across product categories to uncover spending patterns, customer segments, and strategic insights using Python, SQL, and Power BI.</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711498"/>
            <a:ext cx="10868745" cy="610493"/>
          </a:xfrm>
          <a:prstGeom prst="rect">
            <a:avLst/>
          </a:prstGeom>
          <a:noFill/>
          <a:ln/>
        </p:spPr>
        <p:txBody>
          <a:bodyPr wrap="none" lIns="0" tIns="0" rIns="0" bIns="0" rtlCol="0" anchor="t"/>
          <a:lstStyle/>
          <a:p>
            <a:pPr marL="0" indent="0" algn="l">
              <a:lnSpc>
                <a:spcPct val="104000"/>
              </a:lnSpc>
              <a:buNone/>
            </a:pPr>
            <a:r>
              <a:rPr lang="en-US" sz="3800" b="1" dirty="0">
                <a:solidFill>
                  <a:srgbClr val="000000"/>
                </a:solidFill>
                <a:latin typeface="Petrona Bold" pitchFamily="34" charset="0"/>
                <a:ea typeface="Petrona Bold" pitchFamily="34" charset="-122"/>
                <a:cs typeface="Petrona Bold" pitchFamily="34" charset="-120"/>
              </a:rPr>
              <a:t>Dataset at a Glance</a:t>
            </a:r>
            <a:endParaRPr lang="en-US" sz="3800" dirty="0"/>
          </a:p>
        </p:txBody>
      </p:sp>
      <p:sp>
        <p:nvSpPr>
          <p:cNvPr id="3" name="Text 1"/>
          <p:cNvSpPr/>
          <p:nvPr/>
        </p:nvSpPr>
        <p:spPr>
          <a:xfrm>
            <a:off x="661475" y="1781274"/>
            <a:ext cx="5319877" cy="614065"/>
          </a:xfrm>
          <a:prstGeom prst="rect">
            <a:avLst/>
          </a:prstGeom>
          <a:noFill/>
          <a:ln/>
        </p:spPr>
        <p:txBody>
          <a:bodyPr wrap="none" lIns="0" tIns="0" rIns="0" bIns="0" rtlCol="0" anchor="t"/>
          <a:lstStyle/>
          <a:p>
            <a:pPr marL="0" indent="0" algn="ctr">
              <a:lnSpc>
                <a:spcPct val="83000"/>
              </a:lnSpc>
              <a:buNone/>
            </a:pPr>
            <a:r>
              <a:rPr lang="en-US" sz="4800" b="1" dirty="0">
                <a:solidFill>
                  <a:srgbClr val="272525"/>
                </a:solidFill>
                <a:latin typeface="Petrona Bold" pitchFamily="34" charset="0"/>
                <a:ea typeface="Petrona Bold" pitchFamily="34" charset="-122"/>
                <a:cs typeface="Petrona Bold" pitchFamily="34" charset="-120"/>
              </a:rPr>
              <a:t>3,900</a:t>
            </a:r>
            <a:endParaRPr lang="en-US" sz="4800" dirty="0"/>
          </a:p>
        </p:txBody>
      </p:sp>
      <p:sp>
        <p:nvSpPr>
          <p:cNvPr id="4" name="Text 2"/>
          <p:cNvSpPr/>
          <p:nvPr/>
        </p:nvSpPr>
        <p:spPr>
          <a:xfrm>
            <a:off x="661475" y="2625626"/>
            <a:ext cx="5319877" cy="305197"/>
          </a:xfrm>
          <a:prstGeom prst="rect">
            <a:avLst/>
          </a:prstGeom>
          <a:noFill/>
          <a:ln/>
        </p:spPr>
        <p:txBody>
          <a:bodyPr wrap="none" lIns="0" tIns="0" rIns="0" bIns="0" rtlCol="0" anchor="t"/>
          <a:lstStyle/>
          <a:p>
            <a:pPr marL="0" indent="0" algn="ctr">
              <a:lnSpc>
                <a:spcPct val="104000"/>
              </a:lnSpc>
              <a:buNone/>
            </a:pPr>
            <a:r>
              <a:rPr lang="en-US" sz="1900" b="1" dirty="0">
                <a:solidFill>
                  <a:srgbClr val="272525"/>
                </a:solidFill>
                <a:latin typeface="Petrona Bold" pitchFamily="34" charset="0"/>
                <a:ea typeface="Petrona Bold" pitchFamily="34" charset="-122"/>
                <a:cs typeface="Petrona Bold" pitchFamily="34" charset="-120"/>
              </a:rPr>
              <a:t>Total Purchases</a:t>
            </a:r>
            <a:endParaRPr lang="en-US" sz="1900" dirty="0"/>
          </a:p>
        </p:txBody>
      </p:sp>
      <p:sp>
        <p:nvSpPr>
          <p:cNvPr id="5" name="Text 3"/>
          <p:cNvSpPr/>
          <p:nvPr/>
        </p:nvSpPr>
        <p:spPr>
          <a:xfrm>
            <a:off x="661475" y="3040658"/>
            <a:ext cx="5319877" cy="295275"/>
          </a:xfrm>
          <a:prstGeom prst="rect">
            <a:avLst/>
          </a:prstGeom>
          <a:noFill/>
          <a:ln/>
        </p:spPr>
        <p:txBody>
          <a:bodyPr wrap="none" lIns="0" tIns="0" rIns="0" bIns="0" rtlCol="0" anchor="t"/>
          <a:lstStyle/>
          <a:p>
            <a:pPr marL="0" indent="0" algn="ctr">
              <a:lnSpc>
                <a:spcPct val="132000"/>
              </a:lnSpc>
              <a:buNone/>
            </a:pPr>
            <a:r>
              <a:rPr lang="en-US" sz="1450" dirty="0">
                <a:solidFill>
                  <a:srgbClr val="272525"/>
                </a:solidFill>
                <a:latin typeface="Inter" pitchFamily="34" charset="0"/>
                <a:ea typeface="Inter" pitchFamily="34" charset="-122"/>
                <a:cs typeface="Inter" pitchFamily="34" charset="-120"/>
              </a:rPr>
              <a:t>Rows in dataset</a:t>
            </a:r>
            <a:endParaRPr lang="en-US" sz="1450" dirty="0"/>
          </a:p>
        </p:txBody>
      </p:sp>
      <p:sp>
        <p:nvSpPr>
          <p:cNvPr id="6" name="Text 4"/>
          <p:cNvSpPr/>
          <p:nvPr/>
        </p:nvSpPr>
        <p:spPr>
          <a:xfrm>
            <a:off x="6210244" y="1781274"/>
            <a:ext cx="5319976" cy="614065"/>
          </a:xfrm>
          <a:prstGeom prst="rect">
            <a:avLst/>
          </a:prstGeom>
          <a:noFill/>
          <a:ln/>
        </p:spPr>
        <p:txBody>
          <a:bodyPr wrap="none" lIns="0" tIns="0" rIns="0" bIns="0" rtlCol="0" anchor="t"/>
          <a:lstStyle/>
          <a:p>
            <a:pPr marL="0" indent="0" algn="ctr">
              <a:lnSpc>
                <a:spcPct val="83000"/>
              </a:lnSpc>
              <a:buNone/>
            </a:pPr>
            <a:r>
              <a:rPr lang="en-US" sz="4800" b="1" dirty="0">
                <a:solidFill>
                  <a:srgbClr val="272525"/>
                </a:solidFill>
                <a:latin typeface="Petrona Bold" pitchFamily="34" charset="0"/>
                <a:ea typeface="Petrona Bold" pitchFamily="34" charset="-122"/>
                <a:cs typeface="Petrona Bold" pitchFamily="34" charset="-120"/>
              </a:rPr>
              <a:t>18</a:t>
            </a:r>
            <a:endParaRPr lang="en-US" sz="4800" dirty="0"/>
          </a:p>
        </p:txBody>
      </p:sp>
      <p:sp>
        <p:nvSpPr>
          <p:cNvPr id="7" name="Text 5"/>
          <p:cNvSpPr/>
          <p:nvPr/>
        </p:nvSpPr>
        <p:spPr>
          <a:xfrm>
            <a:off x="6210244" y="2625626"/>
            <a:ext cx="5319976" cy="305197"/>
          </a:xfrm>
          <a:prstGeom prst="rect">
            <a:avLst/>
          </a:prstGeom>
          <a:noFill/>
          <a:ln/>
        </p:spPr>
        <p:txBody>
          <a:bodyPr wrap="none" lIns="0" tIns="0" rIns="0" bIns="0" rtlCol="0" anchor="t"/>
          <a:lstStyle/>
          <a:p>
            <a:pPr marL="0" indent="0" algn="ctr">
              <a:lnSpc>
                <a:spcPct val="104000"/>
              </a:lnSpc>
              <a:buNone/>
            </a:pPr>
            <a:r>
              <a:rPr lang="en-US" sz="1900" b="1" dirty="0">
                <a:solidFill>
                  <a:srgbClr val="272525"/>
                </a:solidFill>
                <a:latin typeface="Petrona Bold" pitchFamily="34" charset="0"/>
                <a:ea typeface="Petrona Bold" pitchFamily="34" charset="-122"/>
                <a:cs typeface="Petrona Bold" pitchFamily="34" charset="-120"/>
              </a:rPr>
              <a:t>Features</a:t>
            </a:r>
            <a:endParaRPr lang="en-US" sz="1900" dirty="0"/>
          </a:p>
        </p:txBody>
      </p:sp>
      <p:sp>
        <p:nvSpPr>
          <p:cNvPr id="8" name="Text 6"/>
          <p:cNvSpPr/>
          <p:nvPr/>
        </p:nvSpPr>
        <p:spPr>
          <a:xfrm>
            <a:off x="6210244" y="3040658"/>
            <a:ext cx="5319976" cy="295275"/>
          </a:xfrm>
          <a:prstGeom prst="rect">
            <a:avLst/>
          </a:prstGeom>
          <a:noFill/>
          <a:ln/>
        </p:spPr>
        <p:txBody>
          <a:bodyPr wrap="none" lIns="0" tIns="0" rIns="0" bIns="0" rtlCol="0" anchor="t"/>
          <a:lstStyle/>
          <a:p>
            <a:pPr marL="0" indent="0" algn="ctr">
              <a:lnSpc>
                <a:spcPct val="132000"/>
              </a:lnSpc>
              <a:buNone/>
            </a:pPr>
            <a:r>
              <a:rPr lang="en-US" sz="1450" dirty="0">
                <a:solidFill>
                  <a:srgbClr val="272525"/>
                </a:solidFill>
                <a:latin typeface="Inter" pitchFamily="34" charset="0"/>
                <a:ea typeface="Inter" pitchFamily="34" charset="-122"/>
                <a:cs typeface="Inter" pitchFamily="34" charset="-120"/>
              </a:rPr>
              <a:t>Columns tracked</a:t>
            </a:r>
            <a:endParaRPr lang="en-US" sz="1450" dirty="0"/>
          </a:p>
        </p:txBody>
      </p:sp>
      <p:sp>
        <p:nvSpPr>
          <p:cNvPr id="9" name="Text 7"/>
          <p:cNvSpPr/>
          <p:nvPr/>
        </p:nvSpPr>
        <p:spPr>
          <a:xfrm>
            <a:off x="661475" y="3795216"/>
            <a:ext cx="5319877" cy="614065"/>
          </a:xfrm>
          <a:prstGeom prst="rect">
            <a:avLst/>
          </a:prstGeom>
          <a:noFill/>
          <a:ln/>
        </p:spPr>
        <p:txBody>
          <a:bodyPr wrap="none" lIns="0" tIns="0" rIns="0" bIns="0" rtlCol="0" anchor="t"/>
          <a:lstStyle/>
          <a:p>
            <a:pPr marL="0" indent="0" algn="ctr">
              <a:lnSpc>
                <a:spcPct val="83000"/>
              </a:lnSpc>
              <a:buNone/>
            </a:pPr>
            <a:r>
              <a:rPr lang="en-US" sz="4800" b="1" dirty="0">
                <a:solidFill>
                  <a:srgbClr val="272525"/>
                </a:solidFill>
                <a:latin typeface="Petrona Bold" pitchFamily="34" charset="0"/>
                <a:ea typeface="Petrona Bold" pitchFamily="34" charset="-122"/>
                <a:cs typeface="Petrona Bold" pitchFamily="34" charset="-120"/>
              </a:rPr>
              <a:t>37</a:t>
            </a:r>
            <a:endParaRPr lang="en-US" sz="4800" dirty="0"/>
          </a:p>
        </p:txBody>
      </p:sp>
      <p:sp>
        <p:nvSpPr>
          <p:cNvPr id="10" name="Text 8"/>
          <p:cNvSpPr/>
          <p:nvPr/>
        </p:nvSpPr>
        <p:spPr>
          <a:xfrm>
            <a:off x="661475" y="4639568"/>
            <a:ext cx="5319877" cy="305197"/>
          </a:xfrm>
          <a:prstGeom prst="rect">
            <a:avLst/>
          </a:prstGeom>
          <a:noFill/>
          <a:ln/>
        </p:spPr>
        <p:txBody>
          <a:bodyPr wrap="none" lIns="0" tIns="0" rIns="0" bIns="0" rtlCol="0" anchor="t"/>
          <a:lstStyle/>
          <a:p>
            <a:pPr marL="0" indent="0" algn="ctr">
              <a:lnSpc>
                <a:spcPct val="104000"/>
              </a:lnSpc>
              <a:buNone/>
            </a:pPr>
            <a:r>
              <a:rPr lang="en-US" sz="1900" b="1" dirty="0">
                <a:solidFill>
                  <a:srgbClr val="272525"/>
                </a:solidFill>
                <a:latin typeface="Petrona Bold" pitchFamily="34" charset="0"/>
                <a:ea typeface="Petrona Bold" pitchFamily="34" charset="-122"/>
                <a:cs typeface="Petrona Bold" pitchFamily="34" charset="-120"/>
              </a:rPr>
              <a:t>Missing Values</a:t>
            </a:r>
            <a:endParaRPr lang="en-US" sz="1900" dirty="0"/>
          </a:p>
        </p:txBody>
      </p:sp>
      <p:sp>
        <p:nvSpPr>
          <p:cNvPr id="11" name="Text 9"/>
          <p:cNvSpPr/>
          <p:nvPr/>
        </p:nvSpPr>
        <p:spPr>
          <a:xfrm>
            <a:off x="661475" y="5054600"/>
            <a:ext cx="5319877" cy="295275"/>
          </a:xfrm>
          <a:prstGeom prst="rect">
            <a:avLst/>
          </a:prstGeom>
          <a:noFill/>
          <a:ln/>
        </p:spPr>
        <p:txBody>
          <a:bodyPr wrap="none" lIns="0" tIns="0" rIns="0" bIns="0" rtlCol="0" anchor="t"/>
          <a:lstStyle/>
          <a:p>
            <a:pPr marL="0" indent="0" algn="ctr">
              <a:lnSpc>
                <a:spcPct val="132000"/>
              </a:lnSpc>
              <a:buNone/>
            </a:pPr>
            <a:r>
              <a:rPr lang="en-US" sz="1450" dirty="0">
                <a:solidFill>
                  <a:srgbClr val="272525"/>
                </a:solidFill>
                <a:latin typeface="Inter" pitchFamily="34" charset="0"/>
                <a:ea typeface="Inter" pitchFamily="34" charset="-122"/>
                <a:cs typeface="Inter" pitchFamily="34" charset="-120"/>
              </a:rPr>
              <a:t>Review Rating column only</a:t>
            </a:r>
            <a:endParaRPr lang="en-US" sz="1450" dirty="0"/>
          </a:p>
        </p:txBody>
      </p:sp>
      <p:sp>
        <p:nvSpPr>
          <p:cNvPr id="12" name="Text 10"/>
          <p:cNvSpPr/>
          <p:nvPr/>
        </p:nvSpPr>
        <p:spPr>
          <a:xfrm>
            <a:off x="6210244" y="3795216"/>
            <a:ext cx="5319976" cy="614065"/>
          </a:xfrm>
          <a:prstGeom prst="rect">
            <a:avLst/>
          </a:prstGeom>
          <a:noFill/>
          <a:ln/>
        </p:spPr>
        <p:txBody>
          <a:bodyPr wrap="none" lIns="0" tIns="0" rIns="0" bIns="0" rtlCol="0" anchor="t"/>
          <a:lstStyle/>
          <a:p>
            <a:pPr marL="0" indent="0" algn="ctr">
              <a:lnSpc>
                <a:spcPct val="83000"/>
              </a:lnSpc>
              <a:buNone/>
            </a:pPr>
            <a:r>
              <a:rPr lang="en-US" sz="4800" b="1" dirty="0">
                <a:solidFill>
                  <a:srgbClr val="272525"/>
                </a:solidFill>
                <a:latin typeface="Petrona Bold" pitchFamily="34" charset="0"/>
                <a:ea typeface="Petrona Bold" pitchFamily="34" charset="-122"/>
                <a:cs typeface="Petrona Bold" pitchFamily="34" charset="-120"/>
              </a:rPr>
              <a:t>$59.76</a:t>
            </a:r>
            <a:endParaRPr lang="en-US" sz="4800" dirty="0"/>
          </a:p>
        </p:txBody>
      </p:sp>
      <p:sp>
        <p:nvSpPr>
          <p:cNvPr id="13" name="Text 11"/>
          <p:cNvSpPr/>
          <p:nvPr/>
        </p:nvSpPr>
        <p:spPr>
          <a:xfrm>
            <a:off x="6210244" y="4639568"/>
            <a:ext cx="5319976" cy="305197"/>
          </a:xfrm>
          <a:prstGeom prst="rect">
            <a:avLst/>
          </a:prstGeom>
          <a:noFill/>
          <a:ln/>
        </p:spPr>
        <p:txBody>
          <a:bodyPr wrap="none" lIns="0" tIns="0" rIns="0" bIns="0" rtlCol="0" anchor="t"/>
          <a:lstStyle/>
          <a:p>
            <a:pPr marL="0" indent="0" algn="ctr">
              <a:lnSpc>
                <a:spcPct val="104000"/>
              </a:lnSpc>
              <a:buNone/>
            </a:pPr>
            <a:r>
              <a:rPr lang="en-US" sz="1900" b="1" dirty="0">
                <a:solidFill>
                  <a:srgbClr val="272525"/>
                </a:solidFill>
                <a:latin typeface="Petrona Bold" pitchFamily="34" charset="0"/>
                <a:ea typeface="Petrona Bold" pitchFamily="34" charset="-122"/>
                <a:cs typeface="Petrona Bold" pitchFamily="34" charset="-120"/>
              </a:rPr>
              <a:t>Avg. Purchase</a:t>
            </a:r>
            <a:endParaRPr lang="en-US" sz="1900" dirty="0"/>
          </a:p>
        </p:txBody>
      </p:sp>
      <p:sp>
        <p:nvSpPr>
          <p:cNvPr id="14" name="Text 12"/>
          <p:cNvSpPr/>
          <p:nvPr/>
        </p:nvSpPr>
        <p:spPr>
          <a:xfrm>
            <a:off x="6210244" y="5054600"/>
            <a:ext cx="5319976" cy="295275"/>
          </a:xfrm>
          <a:prstGeom prst="rect">
            <a:avLst/>
          </a:prstGeom>
          <a:noFill/>
          <a:ln/>
        </p:spPr>
        <p:txBody>
          <a:bodyPr wrap="none" lIns="0" tIns="0" rIns="0" bIns="0" rtlCol="0" anchor="t"/>
          <a:lstStyle/>
          <a:p>
            <a:pPr marL="0" indent="0" algn="ctr">
              <a:lnSpc>
                <a:spcPct val="132000"/>
              </a:lnSpc>
              <a:buNone/>
            </a:pPr>
            <a:r>
              <a:rPr lang="en-US" sz="1450" dirty="0">
                <a:solidFill>
                  <a:srgbClr val="272525"/>
                </a:solidFill>
                <a:latin typeface="Inter" pitchFamily="34" charset="0"/>
                <a:ea typeface="Inter" pitchFamily="34" charset="-122"/>
                <a:cs typeface="Inter" pitchFamily="34" charset="-120"/>
              </a:rPr>
              <a:t>Mean transaction value</a:t>
            </a:r>
            <a:endParaRPr lang="en-US" sz="1450" dirty="0"/>
          </a:p>
        </p:txBody>
      </p:sp>
      <p:sp>
        <p:nvSpPr>
          <p:cNvPr id="15" name="Text 13"/>
          <p:cNvSpPr/>
          <p:nvPr/>
        </p:nvSpPr>
        <p:spPr>
          <a:xfrm>
            <a:off x="661475" y="5555853"/>
            <a:ext cx="10868745" cy="590550"/>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272525"/>
                </a:solidFill>
                <a:latin typeface="Inter" pitchFamily="34" charset="0"/>
                <a:ea typeface="Inter" pitchFamily="34" charset="-122"/>
                <a:cs typeface="Inter" pitchFamily="34" charset="-120"/>
              </a:rPr>
              <a:t>Key features include customer demographics (Age, Gender, Location, Subscription Status), purchase details (Item, Category, Amount, Season), and shopping behavior (Discount Applied, Previous Purchases, Review Rating, Shipping Type).</a:t>
            </a:r>
            <a:endParaRPr lang="en-US" sz="1450" dirty="0"/>
          </a:p>
        </p:txBody>
      </p:sp>
      <p:sp>
        <p:nvSpPr>
          <p:cNvPr id="17" name="Rectangle 16">
            <a:extLst>
              <a:ext uri="{FF2B5EF4-FFF2-40B4-BE49-F238E27FC236}">
                <a16:creationId xmlns:a16="http://schemas.microsoft.com/office/drawing/2014/main" id="{ED39CD21-AF6D-52B7-AFA4-09390F637ACD}"/>
              </a:ext>
            </a:extLst>
          </p:cNvPr>
          <p:cNvSpPr/>
          <p:nvPr/>
        </p:nvSpPr>
        <p:spPr>
          <a:xfrm>
            <a:off x="10695708" y="6352380"/>
            <a:ext cx="1445491" cy="4686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482328"/>
            <a:ext cx="10868745" cy="620216"/>
          </a:xfrm>
          <a:prstGeom prst="rect">
            <a:avLst/>
          </a:prstGeom>
          <a:noFill/>
          <a:ln/>
        </p:spPr>
        <p:txBody>
          <a:bodyPr wrap="none" lIns="0" tIns="0" rIns="0" bIns="0" rtlCol="0" anchor="t"/>
          <a:lstStyle/>
          <a:p>
            <a:pPr marL="0" indent="0" algn="l">
              <a:lnSpc>
                <a:spcPct val="104000"/>
              </a:lnSpc>
              <a:buNone/>
            </a:pPr>
            <a:r>
              <a:rPr lang="en-US" sz="3900" b="1" dirty="0">
                <a:solidFill>
                  <a:srgbClr val="000000"/>
                </a:solidFill>
                <a:latin typeface="Petrona Bold" pitchFamily="34" charset="0"/>
                <a:ea typeface="Petrona Bold" pitchFamily="34" charset="-122"/>
                <a:cs typeface="Petrona Bold" pitchFamily="34" charset="-120"/>
              </a:rPr>
              <a:t>Data Preparation in Python</a:t>
            </a:r>
            <a:endParaRPr lang="en-US" sz="39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386013"/>
            <a:ext cx="3496877" cy="2989560"/>
          </a:xfrm>
          <a:prstGeom prst="rect">
            <a:avLst/>
          </a:prstGeom>
        </p:spPr>
      </p:pic>
      <p:sp>
        <p:nvSpPr>
          <p:cNvPr id="4" name="Text 1"/>
          <p:cNvSpPr/>
          <p:nvPr/>
        </p:nvSpPr>
        <p:spPr>
          <a:xfrm>
            <a:off x="977479" y="2600424"/>
            <a:ext cx="2966467" cy="620117"/>
          </a:xfrm>
          <a:prstGeom prst="rect">
            <a:avLst/>
          </a:prstGeom>
          <a:noFill/>
          <a:ln/>
        </p:spPr>
        <p:txBody>
          <a:bodyPr wrap="square" lIns="0" tIns="0" rIns="0" bIns="0" rtlCol="0" anchor="t">
            <a:normAutofit/>
          </a:bodyPr>
          <a:lstStyle/>
          <a:p>
            <a:pPr marL="0" indent="0" algn="l">
              <a:lnSpc>
                <a:spcPct val="104000"/>
              </a:lnSpc>
              <a:buNone/>
            </a:pPr>
            <a:r>
              <a:rPr lang="en-US" sz="1950" b="1" dirty="0">
                <a:solidFill>
                  <a:srgbClr val="272525"/>
                </a:solidFill>
                <a:latin typeface="Petrona Bold" pitchFamily="34" charset="0"/>
                <a:ea typeface="Petrona Bold" pitchFamily="34" charset="-122"/>
                <a:cs typeface="Petrona Bold" pitchFamily="34" charset="-120"/>
              </a:rPr>
              <a:t>Cleaning &amp; Standardization</a:t>
            </a:r>
            <a:endParaRPr lang="en-US" sz="1950" dirty="0"/>
          </a:p>
        </p:txBody>
      </p:sp>
      <p:sp>
        <p:nvSpPr>
          <p:cNvPr id="5" name="Text 2"/>
          <p:cNvSpPr/>
          <p:nvPr/>
        </p:nvSpPr>
        <p:spPr>
          <a:xfrm>
            <a:off x="977479" y="3333948"/>
            <a:ext cx="2966467" cy="1827212"/>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Loaded data via pandas, checked structure with </a:t>
            </a:r>
            <a:r>
              <a:rPr lang="en-US" sz="1450" dirty="0">
                <a:solidFill>
                  <a:srgbClr val="272525"/>
                </a:solidFill>
                <a:highlight>
                  <a:srgbClr val="F2F2F2"/>
                </a:highlight>
                <a:latin typeface="Consolas" pitchFamily="34" charset="0"/>
                <a:ea typeface="Consolas" pitchFamily="34" charset="-122"/>
                <a:cs typeface="Consolas" pitchFamily="34" charset="-120"/>
              </a:rPr>
              <a:t>df.info()</a:t>
            </a:r>
            <a:r>
              <a:rPr lang="en-US" sz="1450" dirty="0">
                <a:solidFill>
                  <a:srgbClr val="272525"/>
                </a:solidFill>
                <a:latin typeface="Inter" pitchFamily="34" charset="0"/>
                <a:ea typeface="Inter" pitchFamily="34" charset="-122"/>
                <a:cs typeface="Inter" pitchFamily="34" charset="-120"/>
              </a:rPr>
              <a:t> and </a:t>
            </a:r>
            <a:r>
              <a:rPr lang="en-US" sz="1450" dirty="0">
                <a:solidFill>
                  <a:srgbClr val="272525"/>
                </a:solidFill>
                <a:highlight>
                  <a:srgbClr val="F2F2F2"/>
                </a:highlight>
                <a:latin typeface="Consolas" pitchFamily="34" charset="0"/>
                <a:ea typeface="Consolas" pitchFamily="34" charset="-122"/>
                <a:cs typeface="Consolas" pitchFamily="34" charset="-120"/>
              </a:rPr>
              <a:t>.describe()</a:t>
            </a:r>
            <a:r>
              <a:rPr lang="en-US" sz="1450" dirty="0">
                <a:solidFill>
                  <a:srgbClr val="272525"/>
                </a:solidFill>
                <a:latin typeface="Inter" pitchFamily="34" charset="0"/>
                <a:ea typeface="Inter" pitchFamily="34" charset="-122"/>
                <a:cs typeface="Inter" pitchFamily="34" charset="-120"/>
              </a:rPr>
              <a:t>, imputed missing Review Ratings using median per category, and renamed columns to snake_case.</a:t>
            </a:r>
            <a:endParaRPr lang="en-US" sz="14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47359" y="2386013"/>
            <a:ext cx="3496877" cy="2989560"/>
          </a:xfrm>
          <a:prstGeom prst="rect">
            <a:avLst/>
          </a:prstGeom>
        </p:spPr>
      </p:pic>
      <p:sp>
        <p:nvSpPr>
          <p:cNvPr id="7" name="Text 3"/>
          <p:cNvSpPr/>
          <p:nvPr/>
        </p:nvSpPr>
        <p:spPr>
          <a:xfrm>
            <a:off x="4663363" y="2600424"/>
            <a:ext cx="2966467" cy="310059"/>
          </a:xfrm>
          <a:prstGeom prst="rect">
            <a:avLst/>
          </a:prstGeom>
          <a:noFill/>
          <a:ln/>
        </p:spPr>
        <p:txBody>
          <a:bodyPr wrap="none" lIns="0" tIns="0" rIns="0" bIns="0" rtlCol="0" anchor="t"/>
          <a:lstStyle/>
          <a:p>
            <a:pPr marL="0" indent="0" algn="l">
              <a:lnSpc>
                <a:spcPct val="104000"/>
              </a:lnSpc>
              <a:buNone/>
            </a:pPr>
            <a:r>
              <a:rPr lang="en-US" sz="1950" b="1" dirty="0">
                <a:solidFill>
                  <a:srgbClr val="272525"/>
                </a:solidFill>
                <a:latin typeface="Petrona Bold" pitchFamily="34" charset="0"/>
                <a:ea typeface="Petrona Bold" pitchFamily="34" charset="-122"/>
                <a:cs typeface="Petrona Bold" pitchFamily="34" charset="-120"/>
              </a:rPr>
              <a:t>Feature Engineering</a:t>
            </a:r>
            <a:endParaRPr lang="en-US" sz="1950" dirty="0"/>
          </a:p>
        </p:txBody>
      </p:sp>
      <p:sp>
        <p:nvSpPr>
          <p:cNvPr id="8" name="Text 4"/>
          <p:cNvSpPr/>
          <p:nvPr/>
        </p:nvSpPr>
        <p:spPr>
          <a:xfrm>
            <a:off x="4663363" y="3023890"/>
            <a:ext cx="2966467" cy="1839913"/>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Created </a:t>
            </a:r>
            <a:r>
              <a:rPr lang="en-US" sz="1450" dirty="0">
                <a:solidFill>
                  <a:srgbClr val="272525"/>
                </a:solidFill>
                <a:highlight>
                  <a:srgbClr val="F2F2F2"/>
                </a:highlight>
                <a:latin typeface="Consolas" pitchFamily="34" charset="0"/>
                <a:ea typeface="Consolas" pitchFamily="34" charset="-122"/>
                <a:cs typeface="Consolas" pitchFamily="34" charset="-120"/>
              </a:rPr>
              <a:t>age_group</a:t>
            </a:r>
            <a:r>
              <a:rPr lang="en-US" sz="1450" dirty="0">
                <a:solidFill>
                  <a:srgbClr val="272525"/>
                </a:solidFill>
                <a:latin typeface="Inter" pitchFamily="34" charset="0"/>
                <a:ea typeface="Inter" pitchFamily="34" charset="-122"/>
                <a:cs typeface="Inter" pitchFamily="34" charset="-120"/>
              </a:rPr>
              <a:t> by binning customer ages and </a:t>
            </a:r>
            <a:r>
              <a:rPr lang="en-US" sz="1450" dirty="0">
                <a:solidFill>
                  <a:srgbClr val="272525"/>
                </a:solidFill>
                <a:highlight>
                  <a:srgbClr val="F2F2F2"/>
                </a:highlight>
                <a:latin typeface="Consolas" pitchFamily="34" charset="0"/>
                <a:ea typeface="Consolas" pitchFamily="34" charset="-122"/>
                <a:cs typeface="Consolas" pitchFamily="34" charset="-120"/>
              </a:rPr>
              <a:t>purchase_frequency_days</a:t>
            </a:r>
            <a:r>
              <a:rPr lang="en-US" sz="1450" dirty="0">
                <a:solidFill>
                  <a:srgbClr val="272525"/>
                </a:solidFill>
                <a:latin typeface="Inter" pitchFamily="34" charset="0"/>
                <a:ea typeface="Inter" pitchFamily="34" charset="-122"/>
                <a:cs typeface="Inter" pitchFamily="34" charset="-120"/>
              </a:rPr>
              <a:t> from purchase data. Dropped redundant </a:t>
            </a:r>
            <a:r>
              <a:rPr lang="en-US" sz="1450" dirty="0">
                <a:solidFill>
                  <a:srgbClr val="272525"/>
                </a:solidFill>
                <a:highlight>
                  <a:srgbClr val="F2F2F2"/>
                </a:highlight>
                <a:latin typeface="Consolas" pitchFamily="34" charset="0"/>
                <a:ea typeface="Consolas" pitchFamily="34" charset="-122"/>
                <a:cs typeface="Consolas" pitchFamily="34" charset="-120"/>
              </a:rPr>
              <a:t>promo_code_used</a:t>
            </a:r>
            <a:r>
              <a:rPr lang="en-US" sz="1450" dirty="0">
                <a:solidFill>
                  <a:srgbClr val="272525"/>
                </a:solidFill>
                <a:latin typeface="Inter" pitchFamily="34" charset="0"/>
                <a:ea typeface="Inter" pitchFamily="34" charset="-122"/>
                <a:cs typeface="Inter" pitchFamily="34" charset="-120"/>
              </a:rPr>
              <a:t> (duplicate of </a:t>
            </a:r>
            <a:r>
              <a:rPr lang="en-US" sz="1450" dirty="0">
                <a:solidFill>
                  <a:srgbClr val="272525"/>
                </a:solidFill>
                <a:highlight>
                  <a:srgbClr val="F2F2F2"/>
                </a:highlight>
                <a:latin typeface="Consolas" pitchFamily="34" charset="0"/>
                <a:ea typeface="Consolas" pitchFamily="34" charset="-122"/>
                <a:cs typeface="Consolas" pitchFamily="34" charset="-120"/>
              </a:rPr>
              <a:t>discount_applied</a:t>
            </a:r>
            <a:r>
              <a:rPr lang="en-US" sz="1450" dirty="0">
                <a:solidFill>
                  <a:srgbClr val="272525"/>
                </a:solidFill>
                <a:latin typeface="Inter" pitchFamily="34" charset="0"/>
                <a:ea typeface="Inter" pitchFamily="34" charset="-122"/>
                <a:cs typeface="Inter" pitchFamily="34" charset="-120"/>
              </a:rPr>
              <a:t>).</a:t>
            </a:r>
            <a:endParaRPr lang="en-US" sz="14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33244" y="2386013"/>
            <a:ext cx="3496877" cy="2989560"/>
          </a:xfrm>
          <a:prstGeom prst="rect">
            <a:avLst/>
          </a:prstGeom>
        </p:spPr>
      </p:pic>
      <p:sp>
        <p:nvSpPr>
          <p:cNvPr id="10" name="Text 5"/>
          <p:cNvSpPr/>
          <p:nvPr/>
        </p:nvSpPr>
        <p:spPr>
          <a:xfrm>
            <a:off x="8349247" y="2600424"/>
            <a:ext cx="2966467" cy="310059"/>
          </a:xfrm>
          <a:prstGeom prst="rect">
            <a:avLst/>
          </a:prstGeom>
          <a:noFill/>
          <a:ln/>
        </p:spPr>
        <p:txBody>
          <a:bodyPr wrap="none" lIns="0" tIns="0" rIns="0" bIns="0" rtlCol="0" anchor="t"/>
          <a:lstStyle/>
          <a:p>
            <a:pPr marL="0" indent="0" algn="l">
              <a:lnSpc>
                <a:spcPct val="104000"/>
              </a:lnSpc>
              <a:buNone/>
            </a:pPr>
            <a:r>
              <a:rPr lang="en-US" sz="1950" b="1" dirty="0">
                <a:solidFill>
                  <a:srgbClr val="272525"/>
                </a:solidFill>
                <a:latin typeface="Petrona Bold" pitchFamily="34" charset="0"/>
                <a:ea typeface="Petrona Bold" pitchFamily="34" charset="-122"/>
                <a:cs typeface="Petrona Bold" pitchFamily="34" charset="-120"/>
              </a:rPr>
              <a:t>Database Integration</a:t>
            </a:r>
            <a:endParaRPr lang="en-US" sz="1950" dirty="0"/>
          </a:p>
        </p:txBody>
      </p:sp>
      <p:sp>
        <p:nvSpPr>
          <p:cNvPr id="11" name="Text 6"/>
          <p:cNvSpPr/>
          <p:nvPr/>
        </p:nvSpPr>
        <p:spPr>
          <a:xfrm>
            <a:off x="8349247" y="3023890"/>
            <a:ext cx="2966467"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Connected Python to PostgreSQL and loaded the cleaned DataFrame for SQL analysis.</a:t>
            </a:r>
            <a:endParaRPr lang="en-US" sz="1450" dirty="0"/>
          </a:p>
        </p:txBody>
      </p:sp>
      <p:sp>
        <p:nvSpPr>
          <p:cNvPr id="13" name="Rectangle 12">
            <a:extLst>
              <a:ext uri="{FF2B5EF4-FFF2-40B4-BE49-F238E27FC236}">
                <a16:creationId xmlns:a16="http://schemas.microsoft.com/office/drawing/2014/main" id="{CF15319C-F165-BC5C-383D-B976BF6A5359}"/>
              </a:ext>
            </a:extLst>
          </p:cNvPr>
          <p:cNvSpPr/>
          <p:nvPr/>
        </p:nvSpPr>
        <p:spPr>
          <a:xfrm>
            <a:off x="10695708" y="5906654"/>
            <a:ext cx="1445491"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891580"/>
            <a:ext cx="10868745" cy="620216"/>
          </a:xfrm>
          <a:prstGeom prst="rect">
            <a:avLst/>
          </a:prstGeom>
          <a:noFill/>
          <a:ln/>
        </p:spPr>
        <p:txBody>
          <a:bodyPr wrap="none" lIns="0" tIns="0" rIns="0" bIns="0" rtlCol="0" anchor="t"/>
          <a:lstStyle/>
          <a:p>
            <a:pPr marL="0" indent="0" algn="l">
              <a:lnSpc>
                <a:spcPct val="104000"/>
              </a:lnSpc>
              <a:buNone/>
            </a:pPr>
            <a:r>
              <a:rPr lang="en-US" sz="3900" b="1" dirty="0">
                <a:solidFill>
                  <a:srgbClr val="000000"/>
                </a:solidFill>
                <a:latin typeface="Petrona Bold" pitchFamily="34" charset="0"/>
                <a:ea typeface="Petrona Bold" pitchFamily="34" charset="-122"/>
                <a:cs typeface="Petrona Bold" pitchFamily="34" charset="-120"/>
              </a:rPr>
              <a:t>Revenue &amp; Spending Insights (SQL)</a:t>
            </a:r>
            <a:endParaRPr lang="en-US" sz="3900" dirty="0"/>
          </a:p>
        </p:txBody>
      </p:sp>
      <p:pic>
        <p:nvPicPr>
          <p:cNvPr id="3" name="Image 0" descr="preencoded.png"/>
          <p:cNvPicPr>
            <a:picLocks noChangeAspect="1"/>
          </p:cNvPicPr>
          <p:nvPr/>
        </p:nvPicPr>
        <p:blipFill>
          <a:blip r:embed="rId3"/>
          <a:stretch>
            <a:fillRect/>
          </a:stretch>
        </p:blipFill>
        <p:spPr>
          <a:xfrm>
            <a:off x="661475" y="2007890"/>
            <a:ext cx="5203794" cy="3745805"/>
          </a:xfrm>
          <a:prstGeom prst="rect">
            <a:avLst/>
          </a:prstGeom>
        </p:spPr>
      </p:pic>
      <p:sp>
        <p:nvSpPr>
          <p:cNvPr id="4" name="Text 1"/>
          <p:cNvSpPr/>
          <p:nvPr/>
        </p:nvSpPr>
        <p:spPr>
          <a:xfrm>
            <a:off x="6332776" y="1984276"/>
            <a:ext cx="5203794" cy="310059"/>
          </a:xfrm>
          <a:prstGeom prst="rect">
            <a:avLst/>
          </a:prstGeom>
          <a:noFill/>
          <a:ln/>
        </p:spPr>
        <p:txBody>
          <a:bodyPr wrap="none" lIns="0" tIns="0" rIns="0" bIns="0" rtlCol="0" anchor="t"/>
          <a:lstStyle/>
          <a:p>
            <a:pPr marL="0" indent="0" algn="l">
              <a:lnSpc>
                <a:spcPct val="104000"/>
              </a:lnSpc>
              <a:buNone/>
            </a:pPr>
            <a:r>
              <a:rPr lang="en-US" sz="1950" b="1" dirty="0">
                <a:solidFill>
                  <a:srgbClr val="000000"/>
                </a:solidFill>
                <a:latin typeface="Petrona Bold" pitchFamily="34" charset="0"/>
                <a:ea typeface="Petrona Bold" pitchFamily="34" charset="-122"/>
                <a:cs typeface="Petrona Bold" pitchFamily="34" charset="-120"/>
              </a:rPr>
              <a:t>Key Findings</a:t>
            </a:r>
            <a:endParaRPr lang="en-US" sz="1950" dirty="0"/>
          </a:p>
        </p:txBody>
      </p:sp>
      <p:sp>
        <p:nvSpPr>
          <p:cNvPr id="5" name="Text 2"/>
          <p:cNvSpPr/>
          <p:nvPr/>
        </p:nvSpPr>
        <p:spPr>
          <a:xfrm>
            <a:off x="6332776" y="2483346"/>
            <a:ext cx="5203794" cy="2617589"/>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b="1" dirty="0">
                <a:solidFill>
                  <a:srgbClr val="272525"/>
                </a:solidFill>
                <a:latin typeface="Inter Bold" pitchFamily="34" charset="0"/>
                <a:ea typeface="Inter Bold" pitchFamily="34" charset="-122"/>
                <a:cs typeface="Inter Bold" pitchFamily="34" charset="-120"/>
              </a:rPr>
              <a:t>Male customers</a:t>
            </a:r>
            <a:r>
              <a:rPr lang="en-US" sz="1450" dirty="0">
                <a:solidFill>
                  <a:srgbClr val="272525"/>
                </a:solidFill>
                <a:latin typeface="Inter" pitchFamily="34" charset="0"/>
                <a:ea typeface="Inter" pitchFamily="34" charset="-122"/>
                <a:cs typeface="Inter" pitchFamily="34" charset="-120"/>
              </a:rPr>
              <a:t> generated 2× more revenue than females ($157,890 vs $75,191)</a:t>
            </a:r>
            <a:endParaRPr lang="en-US" sz="1450" dirty="0"/>
          </a:p>
          <a:p>
            <a:pPr marL="294640" indent="-294640" algn="l">
              <a:lnSpc>
                <a:spcPct val="133000"/>
              </a:lnSpc>
              <a:buSzPct val="100000"/>
              <a:buChar char="•"/>
            </a:pPr>
            <a:r>
              <a:rPr lang="en-US" sz="1450" b="1" dirty="0">
                <a:solidFill>
                  <a:srgbClr val="272525"/>
                </a:solidFill>
                <a:latin typeface="Inter Bold" pitchFamily="34" charset="0"/>
                <a:ea typeface="Inter Bold" pitchFamily="34" charset="-122"/>
                <a:cs typeface="Inter Bold" pitchFamily="34" charset="-120"/>
              </a:rPr>
              <a:t>839 high-spending discount users</a:t>
            </a:r>
            <a:r>
              <a:rPr lang="en-US" sz="1450" dirty="0">
                <a:solidFill>
                  <a:srgbClr val="272525"/>
                </a:solidFill>
                <a:latin typeface="Inter" pitchFamily="34" charset="0"/>
                <a:ea typeface="Inter" pitchFamily="34" charset="-122"/>
                <a:cs typeface="Inter" pitchFamily="34" charset="-120"/>
              </a:rPr>
              <a:t> spent above average despite using discounts</a:t>
            </a:r>
            <a:endParaRPr lang="en-US" sz="1450" dirty="0"/>
          </a:p>
          <a:p>
            <a:pPr marL="294640" indent="-294640" algn="l">
              <a:lnSpc>
                <a:spcPct val="133000"/>
              </a:lnSpc>
              <a:buSzPct val="100000"/>
              <a:buChar char="•"/>
            </a:pPr>
            <a:r>
              <a:rPr lang="en-US" sz="1450" dirty="0">
                <a:solidFill>
                  <a:srgbClr val="272525"/>
                </a:solidFill>
                <a:latin typeface="Inter" pitchFamily="34" charset="0"/>
                <a:ea typeface="Inter" pitchFamily="34" charset="-122"/>
                <a:cs typeface="Inter" pitchFamily="34" charset="-120"/>
              </a:rPr>
              <a:t>Express shipping averaged </a:t>
            </a:r>
            <a:r>
              <a:rPr lang="en-US" sz="1450" b="1" dirty="0">
                <a:solidFill>
                  <a:srgbClr val="272525"/>
                </a:solidFill>
                <a:latin typeface="Inter Bold" pitchFamily="34" charset="0"/>
                <a:ea typeface="Inter Bold" pitchFamily="34" charset="-122"/>
                <a:cs typeface="Inter Bold" pitchFamily="34" charset="-120"/>
              </a:rPr>
              <a:t>$60.48</a:t>
            </a:r>
            <a:r>
              <a:rPr lang="en-US" sz="1450" dirty="0">
                <a:solidFill>
                  <a:srgbClr val="272525"/>
                </a:solidFill>
                <a:latin typeface="Inter" pitchFamily="34" charset="0"/>
                <a:ea typeface="Inter" pitchFamily="34" charset="-122"/>
                <a:cs typeface="Inter" pitchFamily="34" charset="-120"/>
              </a:rPr>
              <a:t> vs Standard at </a:t>
            </a:r>
            <a:r>
              <a:rPr lang="en-US" sz="1450" b="1" dirty="0">
                <a:solidFill>
                  <a:srgbClr val="272525"/>
                </a:solidFill>
                <a:latin typeface="Inter Bold" pitchFamily="34" charset="0"/>
                <a:ea typeface="Inter Bold" pitchFamily="34" charset="-122"/>
                <a:cs typeface="Inter Bold" pitchFamily="34" charset="-120"/>
              </a:rPr>
              <a:t>$58.46</a:t>
            </a:r>
            <a:endParaRPr lang="en-US" sz="1450" dirty="0"/>
          </a:p>
          <a:p>
            <a:pPr marL="294640" indent="-294640" algn="l">
              <a:lnSpc>
                <a:spcPct val="133000"/>
              </a:lnSpc>
              <a:buSzPct val="100000"/>
              <a:buChar char="•"/>
            </a:pPr>
            <a:r>
              <a:rPr lang="en-US" sz="1450" dirty="0">
                <a:solidFill>
                  <a:srgbClr val="272525"/>
                </a:solidFill>
                <a:latin typeface="Inter" pitchFamily="34" charset="0"/>
                <a:ea typeface="Inter" pitchFamily="34" charset="-122"/>
                <a:cs typeface="Inter" pitchFamily="34" charset="-120"/>
              </a:rPr>
              <a:t>Subscribers (27% of customers) contributed </a:t>
            </a:r>
            <a:r>
              <a:rPr lang="en-US" sz="1450" b="1" dirty="0">
                <a:solidFill>
                  <a:srgbClr val="272525"/>
                </a:solidFill>
                <a:latin typeface="Inter Bold" pitchFamily="34" charset="0"/>
                <a:ea typeface="Inter Bold" pitchFamily="34" charset="-122"/>
                <a:cs typeface="Inter Bold" pitchFamily="34" charset="-120"/>
              </a:rPr>
              <a:t>$62,645</a:t>
            </a:r>
            <a:r>
              <a:rPr lang="en-US" sz="1450" dirty="0">
                <a:solidFill>
                  <a:srgbClr val="272525"/>
                </a:solidFill>
                <a:latin typeface="Inter" pitchFamily="34" charset="0"/>
                <a:ea typeface="Inter" pitchFamily="34" charset="-122"/>
                <a:cs typeface="Inter" pitchFamily="34" charset="-120"/>
              </a:rPr>
              <a:t> total revenue</a:t>
            </a:r>
            <a:endParaRPr lang="en-US" sz="1450" dirty="0"/>
          </a:p>
        </p:txBody>
      </p:sp>
      <p:sp>
        <p:nvSpPr>
          <p:cNvPr id="7" name="Rectangle 6">
            <a:extLst>
              <a:ext uri="{FF2B5EF4-FFF2-40B4-BE49-F238E27FC236}">
                <a16:creationId xmlns:a16="http://schemas.microsoft.com/office/drawing/2014/main" id="{21B5701C-2303-9FE7-514D-9F1E99CCCF09}"/>
              </a:ext>
            </a:extLst>
          </p:cNvPr>
          <p:cNvSpPr/>
          <p:nvPr/>
        </p:nvSpPr>
        <p:spPr>
          <a:xfrm>
            <a:off x="10695708" y="5906654"/>
            <a:ext cx="1445491"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37666"/>
            <a:ext cx="10868745" cy="620216"/>
          </a:xfrm>
          <a:prstGeom prst="rect">
            <a:avLst/>
          </a:prstGeom>
          <a:noFill/>
          <a:ln/>
        </p:spPr>
        <p:txBody>
          <a:bodyPr wrap="none" lIns="0" tIns="0" rIns="0" bIns="0" rtlCol="0" anchor="t"/>
          <a:lstStyle/>
          <a:p>
            <a:pPr marL="0" indent="0" algn="l">
              <a:lnSpc>
                <a:spcPct val="104000"/>
              </a:lnSpc>
              <a:buNone/>
            </a:pPr>
            <a:r>
              <a:rPr lang="en-US" sz="3900" b="1" dirty="0">
                <a:solidFill>
                  <a:srgbClr val="000000"/>
                </a:solidFill>
                <a:latin typeface="Petrona Bold" pitchFamily="34" charset="0"/>
                <a:ea typeface="Petrona Bold" pitchFamily="34" charset="-122"/>
                <a:cs typeface="Petrona Bold" pitchFamily="34" charset="-120"/>
              </a:rPr>
              <a:t>Products, Ratings &amp; Discounts</a:t>
            </a:r>
            <a:endParaRPr lang="en-US" sz="3900" dirty="0"/>
          </a:p>
        </p:txBody>
      </p:sp>
      <p:sp>
        <p:nvSpPr>
          <p:cNvPr id="3" name="Text 1"/>
          <p:cNvSpPr/>
          <p:nvPr/>
        </p:nvSpPr>
        <p:spPr>
          <a:xfrm>
            <a:off x="661475" y="1630363"/>
            <a:ext cx="5203794" cy="310059"/>
          </a:xfrm>
          <a:prstGeom prst="rect">
            <a:avLst/>
          </a:prstGeom>
          <a:noFill/>
          <a:ln/>
        </p:spPr>
        <p:txBody>
          <a:bodyPr wrap="none" lIns="0" tIns="0" rIns="0" bIns="0" rtlCol="0" anchor="t"/>
          <a:lstStyle/>
          <a:p>
            <a:pPr marL="0" indent="0" algn="l">
              <a:lnSpc>
                <a:spcPct val="104000"/>
              </a:lnSpc>
              <a:buNone/>
            </a:pPr>
            <a:r>
              <a:rPr lang="en-US" sz="1950" b="1" dirty="0">
                <a:solidFill>
                  <a:srgbClr val="000000"/>
                </a:solidFill>
                <a:latin typeface="Petrona Bold" pitchFamily="34" charset="0"/>
                <a:ea typeface="Petrona Bold" pitchFamily="34" charset="-122"/>
                <a:cs typeface="Petrona Bold" pitchFamily="34" charset="-120"/>
              </a:rPr>
              <a:t>Top 5 Products by Rating</a:t>
            </a:r>
            <a:endParaRPr lang="en-US" sz="1950" dirty="0"/>
          </a:p>
        </p:txBody>
      </p:sp>
      <p:pic>
        <p:nvPicPr>
          <p:cNvPr id="4" name="Image 0" descr="preencoded.png"/>
          <p:cNvPicPr>
            <a:picLocks noChangeAspect="1"/>
          </p:cNvPicPr>
          <p:nvPr/>
        </p:nvPicPr>
        <p:blipFill>
          <a:blip r:embed="rId3"/>
          <a:stretch>
            <a:fillRect/>
          </a:stretch>
        </p:blipFill>
        <p:spPr>
          <a:xfrm>
            <a:off x="661475" y="2153047"/>
            <a:ext cx="5203794" cy="3745805"/>
          </a:xfrm>
          <a:prstGeom prst="rect">
            <a:avLst/>
          </a:prstGeom>
        </p:spPr>
      </p:pic>
      <p:sp>
        <p:nvSpPr>
          <p:cNvPr id="5" name="Text 2"/>
          <p:cNvSpPr/>
          <p:nvPr/>
        </p:nvSpPr>
        <p:spPr>
          <a:xfrm>
            <a:off x="6332776" y="1630363"/>
            <a:ext cx="5203794" cy="310059"/>
          </a:xfrm>
          <a:prstGeom prst="rect">
            <a:avLst/>
          </a:prstGeom>
          <a:noFill/>
          <a:ln/>
        </p:spPr>
        <p:txBody>
          <a:bodyPr wrap="none" lIns="0" tIns="0" rIns="0" bIns="0" rtlCol="0" anchor="t"/>
          <a:lstStyle/>
          <a:p>
            <a:pPr marL="0" indent="0" algn="l">
              <a:lnSpc>
                <a:spcPct val="104000"/>
              </a:lnSpc>
              <a:buNone/>
            </a:pPr>
            <a:r>
              <a:rPr lang="en-US" sz="1950" b="1" dirty="0">
                <a:solidFill>
                  <a:srgbClr val="000000"/>
                </a:solidFill>
                <a:latin typeface="Petrona Bold" pitchFamily="34" charset="0"/>
                <a:ea typeface="Petrona Bold" pitchFamily="34" charset="-122"/>
                <a:cs typeface="Petrona Bold" pitchFamily="34" charset="-120"/>
              </a:rPr>
              <a:t>Most Discount-Dependent Products</a:t>
            </a:r>
            <a:endParaRPr lang="en-US" sz="1950" dirty="0"/>
          </a:p>
        </p:txBody>
      </p:sp>
      <p:sp>
        <p:nvSpPr>
          <p:cNvPr id="6" name="Shape 3"/>
          <p:cNvSpPr/>
          <p:nvPr/>
        </p:nvSpPr>
        <p:spPr>
          <a:xfrm>
            <a:off x="6332776" y="2153047"/>
            <a:ext cx="2507394" cy="1192213"/>
          </a:xfrm>
          <a:prstGeom prst="roundRect">
            <a:avLst>
              <a:gd name="adj" fmla="val 6659"/>
            </a:avLst>
          </a:prstGeom>
          <a:solidFill>
            <a:srgbClr val="CCEEFF"/>
          </a:solidFill>
          <a:ln w="6350">
            <a:solidFill>
              <a:srgbClr val="B2D4E5"/>
            </a:solidFill>
            <a:prstDash val="solid"/>
          </a:ln>
        </p:spPr>
      </p:sp>
      <p:sp>
        <p:nvSpPr>
          <p:cNvPr id="7" name="Text 4"/>
          <p:cNvSpPr/>
          <p:nvPr/>
        </p:nvSpPr>
        <p:spPr>
          <a:xfrm>
            <a:off x="6528133" y="2348409"/>
            <a:ext cx="2116680" cy="310059"/>
          </a:xfrm>
          <a:prstGeom prst="rect">
            <a:avLst/>
          </a:prstGeom>
          <a:noFill/>
          <a:ln/>
        </p:spPr>
        <p:txBody>
          <a:bodyPr wrap="none" lIns="0" tIns="0" rIns="0" bIns="0" rtlCol="0" anchor="t"/>
          <a:lstStyle/>
          <a:p>
            <a:pPr marL="0" indent="0" algn="l">
              <a:lnSpc>
                <a:spcPct val="104000"/>
              </a:lnSpc>
              <a:buNone/>
            </a:pPr>
            <a:r>
              <a:rPr lang="en-US" sz="1950" b="1" dirty="0">
                <a:solidFill>
                  <a:srgbClr val="272525"/>
                </a:solidFill>
                <a:latin typeface="Petrona Bold" pitchFamily="34" charset="0"/>
                <a:ea typeface="Petrona Bold" pitchFamily="34" charset="-122"/>
                <a:cs typeface="Petrona Bold" pitchFamily="34" charset="-120"/>
              </a:rPr>
              <a:t>Hat</a:t>
            </a:r>
            <a:endParaRPr lang="en-US" sz="1950" dirty="0"/>
          </a:p>
        </p:txBody>
      </p:sp>
      <p:sp>
        <p:nvSpPr>
          <p:cNvPr id="8" name="Text 5"/>
          <p:cNvSpPr/>
          <p:nvPr/>
        </p:nvSpPr>
        <p:spPr>
          <a:xfrm>
            <a:off x="6528133" y="2847479"/>
            <a:ext cx="2116680"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50.00% discounted</a:t>
            </a:r>
            <a:endParaRPr lang="en-US" sz="1450" dirty="0"/>
          </a:p>
        </p:txBody>
      </p:sp>
      <p:sp>
        <p:nvSpPr>
          <p:cNvPr id="9" name="Shape 6"/>
          <p:cNvSpPr/>
          <p:nvPr/>
        </p:nvSpPr>
        <p:spPr>
          <a:xfrm>
            <a:off x="9029176" y="2153047"/>
            <a:ext cx="2507394" cy="1192213"/>
          </a:xfrm>
          <a:prstGeom prst="roundRect">
            <a:avLst>
              <a:gd name="adj" fmla="val 6659"/>
            </a:avLst>
          </a:prstGeom>
          <a:solidFill>
            <a:srgbClr val="CCEEFF"/>
          </a:solidFill>
          <a:ln w="6350">
            <a:solidFill>
              <a:srgbClr val="B2D4E5"/>
            </a:solidFill>
            <a:prstDash val="solid"/>
          </a:ln>
        </p:spPr>
      </p:sp>
      <p:sp>
        <p:nvSpPr>
          <p:cNvPr id="10" name="Text 7"/>
          <p:cNvSpPr/>
          <p:nvPr/>
        </p:nvSpPr>
        <p:spPr>
          <a:xfrm>
            <a:off x="9224533" y="2348409"/>
            <a:ext cx="2116680" cy="310059"/>
          </a:xfrm>
          <a:prstGeom prst="rect">
            <a:avLst/>
          </a:prstGeom>
          <a:noFill/>
          <a:ln/>
        </p:spPr>
        <p:txBody>
          <a:bodyPr wrap="none" lIns="0" tIns="0" rIns="0" bIns="0" rtlCol="0" anchor="t"/>
          <a:lstStyle/>
          <a:p>
            <a:pPr marL="0" indent="0" algn="l">
              <a:lnSpc>
                <a:spcPct val="104000"/>
              </a:lnSpc>
              <a:buNone/>
            </a:pPr>
            <a:r>
              <a:rPr lang="en-US" sz="1950" b="1" dirty="0">
                <a:solidFill>
                  <a:srgbClr val="272525"/>
                </a:solidFill>
                <a:latin typeface="Petrona Bold" pitchFamily="34" charset="0"/>
                <a:ea typeface="Petrona Bold" pitchFamily="34" charset="-122"/>
                <a:cs typeface="Petrona Bold" pitchFamily="34" charset="-120"/>
              </a:rPr>
              <a:t>Sneakers</a:t>
            </a:r>
            <a:endParaRPr lang="en-US" sz="1950" dirty="0"/>
          </a:p>
        </p:txBody>
      </p:sp>
      <p:sp>
        <p:nvSpPr>
          <p:cNvPr id="11" name="Text 8"/>
          <p:cNvSpPr/>
          <p:nvPr/>
        </p:nvSpPr>
        <p:spPr>
          <a:xfrm>
            <a:off x="9224533" y="2847479"/>
            <a:ext cx="2116680"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49.66% discounted</a:t>
            </a:r>
            <a:endParaRPr lang="en-US" sz="1450" dirty="0"/>
          </a:p>
        </p:txBody>
      </p:sp>
      <p:sp>
        <p:nvSpPr>
          <p:cNvPr id="12" name="Shape 9"/>
          <p:cNvSpPr/>
          <p:nvPr/>
        </p:nvSpPr>
        <p:spPr>
          <a:xfrm>
            <a:off x="6332776" y="3534271"/>
            <a:ext cx="2507394" cy="1192213"/>
          </a:xfrm>
          <a:prstGeom prst="roundRect">
            <a:avLst>
              <a:gd name="adj" fmla="val 6659"/>
            </a:avLst>
          </a:prstGeom>
          <a:solidFill>
            <a:srgbClr val="CCEEFF"/>
          </a:solidFill>
          <a:ln w="6350">
            <a:solidFill>
              <a:srgbClr val="B2D4E5"/>
            </a:solidFill>
            <a:prstDash val="solid"/>
          </a:ln>
        </p:spPr>
      </p:sp>
      <p:sp>
        <p:nvSpPr>
          <p:cNvPr id="13" name="Text 10"/>
          <p:cNvSpPr/>
          <p:nvPr/>
        </p:nvSpPr>
        <p:spPr>
          <a:xfrm>
            <a:off x="6528133" y="3729633"/>
            <a:ext cx="2116680" cy="310059"/>
          </a:xfrm>
          <a:prstGeom prst="rect">
            <a:avLst/>
          </a:prstGeom>
          <a:noFill/>
          <a:ln/>
        </p:spPr>
        <p:txBody>
          <a:bodyPr wrap="none" lIns="0" tIns="0" rIns="0" bIns="0" rtlCol="0" anchor="t"/>
          <a:lstStyle/>
          <a:p>
            <a:pPr marL="0" indent="0" algn="l">
              <a:lnSpc>
                <a:spcPct val="104000"/>
              </a:lnSpc>
              <a:buNone/>
            </a:pPr>
            <a:r>
              <a:rPr lang="en-US" sz="1950" b="1" dirty="0">
                <a:solidFill>
                  <a:srgbClr val="272525"/>
                </a:solidFill>
                <a:latin typeface="Petrona Bold" pitchFamily="34" charset="0"/>
                <a:ea typeface="Petrona Bold" pitchFamily="34" charset="-122"/>
                <a:cs typeface="Petrona Bold" pitchFamily="34" charset="-120"/>
              </a:rPr>
              <a:t>Coat</a:t>
            </a:r>
            <a:endParaRPr lang="en-US" sz="1950" dirty="0"/>
          </a:p>
        </p:txBody>
      </p:sp>
      <p:sp>
        <p:nvSpPr>
          <p:cNvPr id="14" name="Text 11"/>
          <p:cNvSpPr/>
          <p:nvPr/>
        </p:nvSpPr>
        <p:spPr>
          <a:xfrm>
            <a:off x="6528133" y="4228703"/>
            <a:ext cx="2116680"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49.07% discounted</a:t>
            </a:r>
            <a:endParaRPr lang="en-US" sz="1450" dirty="0"/>
          </a:p>
        </p:txBody>
      </p:sp>
      <p:sp>
        <p:nvSpPr>
          <p:cNvPr id="15" name="Shape 12"/>
          <p:cNvSpPr/>
          <p:nvPr/>
        </p:nvSpPr>
        <p:spPr>
          <a:xfrm>
            <a:off x="9029176" y="3534271"/>
            <a:ext cx="2507394" cy="1192213"/>
          </a:xfrm>
          <a:prstGeom prst="roundRect">
            <a:avLst>
              <a:gd name="adj" fmla="val 6659"/>
            </a:avLst>
          </a:prstGeom>
          <a:solidFill>
            <a:srgbClr val="CCEEFF"/>
          </a:solidFill>
          <a:ln w="6350">
            <a:solidFill>
              <a:srgbClr val="B2D4E5"/>
            </a:solidFill>
            <a:prstDash val="solid"/>
          </a:ln>
        </p:spPr>
      </p:sp>
      <p:sp>
        <p:nvSpPr>
          <p:cNvPr id="16" name="Text 13"/>
          <p:cNvSpPr/>
          <p:nvPr/>
        </p:nvSpPr>
        <p:spPr>
          <a:xfrm>
            <a:off x="9224533" y="3729633"/>
            <a:ext cx="2116680" cy="310059"/>
          </a:xfrm>
          <a:prstGeom prst="rect">
            <a:avLst/>
          </a:prstGeom>
          <a:noFill/>
          <a:ln/>
        </p:spPr>
        <p:txBody>
          <a:bodyPr wrap="none" lIns="0" tIns="0" rIns="0" bIns="0" rtlCol="0" anchor="t"/>
          <a:lstStyle/>
          <a:p>
            <a:pPr marL="0" indent="0" algn="l">
              <a:lnSpc>
                <a:spcPct val="104000"/>
              </a:lnSpc>
              <a:buNone/>
            </a:pPr>
            <a:r>
              <a:rPr lang="en-US" sz="1950" b="1" dirty="0">
                <a:solidFill>
                  <a:srgbClr val="272525"/>
                </a:solidFill>
                <a:latin typeface="Petrona Bold" pitchFamily="34" charset="0"/>
                <a:ea typeface="Petrona Bold" pitchFamily="34" charset="-122"/>
                <a:cs typeface="Petrona Bold" pitchFamily="34" charset="-120"/>
              </a:rPr>
              <a:t>Sweater</a:t>
            </a:r>
            <a:endParaRPr lang="en-US" sz="1950" dirty="0"/>
          </a:p>
        </p:txBody>
      </p:sp>
      <p:sp>
        <p:nvSpPr>
          <p:cNvPr id="17" name="Text 14"/>
          <p:cNvSpPr/>
          <p:nvPr/>
        </p:nvSpPr>
        <p:spPr>
          <a:xfrm>
            <a:off x="9224533" y="4228703"/>
            <a:ext cx="2116680"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48.17% discounted</a:t>
            </a:r>
            <a:endParaRPr lang="en-US" sz="1450" dirty="0"/>
          </a:p>
        </p:txBody>
      </p:sp>
      <p:sp>
        <p:nvSpPr>
          <p:cNvPr id="18" name="Shape 15"/>
          <p:cNvSpPr/>
          <p:nvPr/>
        </p:nvSpPr>
        <p:spPr>
          <a:xfrm>
            <a:off x="6332776" y="4915495"/>
            <a:ext cx="5203794" cy="1192213"/>
          </a:xfrm>
          <a:prstGeom prst="roundRect">
            <a:avLst>
              <a:gd name="adj" fmla="val 6659"/>
            </a:avLst>
          </a:prstGeom>
          <a:solidFill>
            <a:srgbClr val="CCEEFF"/>
          </a:solidFill>
          <a:ln w="6350">
            <a:solidFill>
              <a:srgbClr val="B2D4E5"/>
            </a:solidFill>
            <a:prstDash val="solid"/>
          </a:ln>
        </p:spPr>
      </p:sp>
      <p:sp>
        <p:nvSpPr>
          <p:cNvPr id="19" name="Text 16"/>
          <p:cNvSpPr/>
          <p:nvPr/>
        </p:nvSpPr>
        <p:spPr>
          <a:xfrm>
            <a:off x="6528133" y="5110857"/>
            <a:ext cx="4813080" cy="310059"/>
          </a:xfrm>
          <a:prstGeom prst="rect">
            <a:avLst/>
          </a:prstGeom>
          <a:noFill/>
          <a:ln/>
        </p:spPr>
        <p:txBody>
          <a:bodyPr wrap="none" lIns="0" tIns="0" rIns="0" bIns="0" rtlCol="0" anchor="t"/>
          <a:lstStyle/>
          <a:p>
            <a:pPr marL="0" indent="0" algn="l">
              <a:lnSpc>
                <a:spcPct val="104000"/>
              </a:lnSpc>
              <a:buNone/>
            </a:pPr>
            <a:r>
              <a:rPr lang="en-US" sz="1950" b="1" dirty="0">
                <a:solidFill>
                  <a:srgbClr val="272525"/>
                </a:solidFill>
                <a:latin typeface="Petrona Bold" pitchFamily="34" charset="0"/>
                <a:ea typeface="Petrona Bold" pitchFamily="34" charset="-122"/>
                <a:cs typeface="Petrona Bold" pitchFamily="34" charset="-120"/>
              </a:rPr>
              <a:t>Pants</a:t>
            </a:r>
            <a:endParaRPr lang="en-US" sz="1950" dirty="0"/>
          </a:p>
        </p:txBody>
      </p:sp>
      <p:sp>
        <p:nvSpPr>
          <p:cNvPr id="20" name="Text 17"/>
          <p:cNvSpPr/>
          <p:nvPr/>
        </p:nvSpPr>
        <p:spPr>
          <a:xfrm>
            <a:off x="6528133" y="5609927"/>
            <a:ext cx="4813080"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47.37% discounted</a:t>
            </a:r>
            <a:endParaRPr lang="en-US" sz="1450" dirty="0"/>
          </a:p>
        </p:txBody>
      </p:sp>
      <p:sp>
        <p:nvSpPr>
          <p:cNvPr id="22" name="Rectangle 21">
            <a:extLst>
              <a:ext uri="{FF2B5EF4-FFF2-40B4-BE49-F238E27FC236}">
                <a16:creationId xmlns:a16="http://schemas.microsoft.com/office/drawing/2014/main" id="{7E11E12A-7EF7-BA62-E344-681B71CA9517}"/>
              </a:ext>
            </a:extLst>
          </p:cNvPr>
          <p:cNvSpPr/>
          <p:nvPr/>
        </p:nvSpPr>
        <p:spPr>
          <a:xfrm>
            <a:off x="10695708" y="6296718"/>
            <a:ext cx="1445491" cy="5243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39948"/>
            <a:ext cx="10868745" cy="620216"/>
          </a:xfrm>
          <a:prstGeom prst="rect">
            <a:avLst/>
          </a:prstGeom>
          <a:noFill/>
          <a:ln/>
        </p:spPr>
        <p:txBody>
          <a:bodyPr wrap="none" lIns="0" tIns="0" rIns="0" bIns="0" rtlCol="0" anchor="t"/>
          <a:lstStyle/>
          <a:p>
            <a:pPr marL="0" indent="0" algn="l">
              <a:lnSpc>
                <a:spcPct val="104000"/>
              </a:lnSpc>
              <a:buNone/>
            </a:pPr>
            <a:r>
              <a:rPr lang="en-US" sz="3900" b="1" dirty="0">
                <a:solidFill>
                  <a:srgbClr val="000000"/>
                </a:solidFill>
                <a:latin typeface="Petrona Bold" pitchFamily="34" charset="0"/>
                <a:ea typeface="Petrona Bold" pitchFamily="34" charset="-122"/>
                <a:cs typeface="Petrona Bold" pitchFamily="34" charset="-120"/>
              </a:rPr>
              <a:t>Customer Segmentation</a:t>
            </a:r>
            <a:endParaRPr lang="en-US" sz="3900" dirty="0"/>
          </a:p>
        </p:txBody>
      </p:sp>
      <p:pic>
        <p:nvPicPr>
          <p:cNvPr id="3" name="Image 0" descr="preencoded.png"/>
          <p:cNvPicPr>
            <a:picLocks noChangeAspect="1"/>
          </p:cNvPicPr>
          <p:nvPr/>
        </p:nvPicPr>
        <p:blipFill>
          <a:blip r:embed="rId3"/>
          <a:stretch>
            <a:fillRect/>
          </a:stretch>
        </p:blipFill>
        <p:spPr>
          <a:xfrm>
            <a:off x="661475" y="1656259"/>
            <a:ext cx="5203794" cy="3745805"/>
          </a:xfrm>
          <a:prstGeom prst="rect">
            <a:avLst/>
          </a:prstGeom>
        </p:spPr>
      </p:pic>
      <p:sp>
        <p:nvSpPr>
          <p:cNvPr id="4" name="Text 1"/>
          <p:cNvSpPr/>
          <p:nvPr/>
        </p:nvSpPr>
        <p:spPr>
          <a:xfrm>
            <a:off x="6332776" y="1632645"/>
            <a:ext cx="5203794" cy="310059"/>
          </a:xfrm>
          <a:prstGeom prst="rect">
            <a:avLst/>
          </a:prstGeom>
          <a:noFill/>
          <a:ln/>
        </p:spPr>
        <p:txBody>
          <a:bodyPr wrap="none" lIns="0" tIns="0" rIns="0" bIns="0" rtlCol="0" anchor="t"/>
          <a:lstStyle/>
          <a:p>
            <a:pPr marL="0" indent="0" algn="l">
              <a:lnSpc>
                <a:spcPct val="104000"/>
              </a:lnSpc>
              <a:buNone/>
            </a:pPr>
            <a:r>
              <a:rPr lang="en-US" sz="1950" b="1" dirty="0">
                <a:solidFill>
                  <a:srgbClr val="000000"/>
                </a:solidFill>
                <a:latin typeface="Petrona Bold" pitchFamily="34" charset="0"/>
                <a:ea typeface="Petrona Bold" pitchFamily="34" charset="-122"/>
                <a:cs typeface="Petrona Bold" pitchFamily="34" charset="-120"/>
              </a:rPr>
              <a:t>Segment Breakdown</a:t>
            </a:r>
            <a:endParaRPr lang="en-US" sz="1950" dirty="0"/>
          </a:p>
        </p:txBody>
      </p:sp>
      <p:sp>
        <p:nvSpPr>
          <p:cNvPr id="5" name="Text 2"/>
          <p:cNvSpPr/>
          <p:nvPr/>
        </p:nvSpPr>
        <p:spPr>
          <a:xfrm>
            <a:off x="6332776" y="2131715"/>
            <a:ext cx="5203794"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Customers classified as </a:t>
            </a:r>
            <a:r>
              <a:rPr lang="en-US" sz="1450" b="1" dirty="0">
                <a:solidFill>
                  <a:srgbClr val="272525"/>
                </a:solidFill>
                <a:latin typeface="Inter Bold" pitchFamily="34" charset="0"/>
                <a:ea typeface="Inter Bold" pitchFamily="34" charset="-122"/>
                <a:cs typeface="Inter Bold" pitchFamily="34" charset="-120"/>
              </a:rPr>
              <a:t>New</a:t>
            </a:r>
            <a:r>
              <a:rPr lang="en-US" sz="1450" dirty="0">
                <a:solidFill>
                  <a:srgbClr val="272525"/>
                </a:solidFill>
                <a:latin typeface="Inter" pitchFamily="34" charset="0"/>
                <a:ea typeface="Inter" pitchFamily="34" charset="-122"/>
                <a:cs typeface="Inter" pitchFamily="34" charset="-120"/>
              </a:rPr>
              <a:t>, </a:t>
            </a:r>
            <a:r>
              <a:rPr lang="en-US" sz="1450" b="1" dirty="0">
                <a:solidFill>
                  <a:srgbClr val="272525"/>
                </a:solidFill>
                <a:latin typeface="Inter Bold" pitchFamily="34" charset="0"/>
                <a:ea typeface="Inter Bold" pitchFamily="34" charset="-122"/>
                <a:cs typeface="Inter Bold" pitchFamily="34" charset="-120"/>
              </a:rPr>
              <a:t>Returning</a:t>
            </a:r>
            <a:r>
              <a:rPr lang="en-US" sz="1450" dirty="0">
                <a:solidFill>
                  <a:srgbClr val="272525"/>
                </a:solidFill>
                <a:latin typeface="Inter" pitchFamily="34" charset="0"/>
                <a:ea typeface="Inter" pitchFamily="34" charset="-122"/>
                <a:cs typeface="Inter" pitchFamily="34" charset="-120"/>
              </a:rPr>
              <a:t>, or </a:t>
            </a:r>
            <a:r>
              <a:rPr lang="en-US" sz="1450" b="1" dirty="0">
                <a:solidFill>
                  <a:srgbClr val="272525"/>
                </a:solidFill>
                <a:latin typeface="Inter Bold" pitchFamily="34" charset="0"/>
                <a:ea typeface="Inter Bold" pitchFamily="34" charset="-122"/>
                <a:cs typeface="Inter Bold" pitchFamily="34" charset="-120"/>
              </a:rPr>
              <a:t>Loyal</a:t>
            </a:r>
            <a:r>
              <a:rPr lang="en-US" sz="1450" dirty="0">
                <a:solidFill>
                  <a:srgbClr val="272525"/>
                </a:solidFill>
                <a:latin typeface="Inter" pitchFamily="34" charset="0"/>
                <a:ea typeface="Inter" pitchFamily="34" charset="-122"/>
                <a:cs typeface="Inter" pitchFamily="34" charset="-120"/>
              </a:rPr>
              <a:t> based on purchase history.</a:t>
            </a:r>
            <a:endParaRPr lang="en-US" sz="1450" dirty="0"/>
          </a:p>
        </p:txBody>
      </p:sp>
      <p:sp>
        <p:nvSpPr>
          <p:cNvPr id="6" name="Text 3"/>
          <p:cNvSpPr/>
          <p:nvPr/>
        </p:nvSpPr>
        <p:spPr>
          <a:xfrm>
            <a:off x="6332776" y="2906613"/>
            <a:ext cx="5203794" cy="1644253"/>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b="1" dirty="0">
                <a:solidFill>
                  <a:srgbClr val="272525"/>
                </a:solidFill>
                <a:latin typeface="Inter Bold" pitchFamily="34" charset="0"/>
                <a:ea typeface="Inter Bold" pitchFamily="34" charset="-122"/>
                <a:cs typeface="Inter Bold" pitchFamily="34" charset="-120"/>
              </a:rPr>
              <a:t>Loyal (80%)</a:t>
            </a:r>
            <a:r>
              <a:rPr lang="en-US" sz="1450" dirty="0">
                <a:solidFill>
                  <a:srgbClr val="272525"/>
                </a:solidFill>
                <a:latin typeface="Inter" pitchFamily="34" charset="0"/>
                <a:ea typeface="Inter" pitchFamily="34" charset="-122"/>
                <a:cs typeface="Inter" pitchFamily="34" charset="-120"/>
              </a:rPr>
              <a:t> — 3,116 customers with strong repeat purchase behavior</a:t>
            </a:r>
            <a:endParaRPr lang="en-US" sz="1450" dirty="0"/>
          </a:p>
          <a:p>
            <a:pPr marL="294640" indent="-294640" algn="l">
              <a:lnSpc>
                <a:spcPct val="133000"/>
              </a:lnSpc>
              <a:buSzPct val="100000"/>
              <a:buChar char="•"/>
            </a:pPr>
            <a:r>
              <a:rPr lang="en-US" sz="1450" b="1" dirty="0">
                <a:solidFill>
                  <a:srgbClr val="272525"/>
                </a:solidFill>
                <a:latin typeface="Inter Bold" pitchFamily="34" charset="0"/>
                <a:ea typeface="Inter Bold" pitchFamily="34" charset="-122"/>
                <a:cs typeface="Inter Bold" pitchFamily="34" charset="-120"/>
              </a:rPr>
              <a:t>Returning (18%)</a:t>
            </a:r>
            <a:r>
              <a:rPr lang="en-US" sz="1450" dirty="0">
                <a:solidFill>
                  <a:srgbClr val="272525"/>
                </a:solidFill>
                <a:latin typeface="Inter" pitchFamily="34" charset="0"/>
                <a:ea typeface="Inter" pitchFamily="34" charset="-122"/>
                <a:cs typeface="Inter" pitchFamily="34" charset="-120"/>
              </a:rPr>
              <a:t> — 701 customers with some purchase history</a:t>
            </a:r>
            <a:endParaRPr lang="en-US" sz="1450" dirty="0"/>
          </a:p>
          <a:p>
            <a:pPr marL="294640" indent="-294640" algn="l">
              <a:lnSpc>
                <a:spcPct val="133000"/>
              </a:lnSpc>
              <a:buSzPct val="100000"/>
              <a:buChar char="•"/>
            </a:pPr>
            <a:r>
              <a:rPr lang="en-US" sz="1450" b="1" dirty="0">
                <a:solidFill>
                  <a:srgbClr val="272525"/>
                </a:solidFill>
                <a:latin typeface="Inter Bold" pitchFamily="34" charset="0"/>
                <a:ea typeface="Inter Bold" pitchFamily="34" charset="-122"/>
                <a:cs typeface="Inter Bold" pitchFamily="34" charset="-120"/>
              </a:rPr>
              <a:t>New (2%)</a:t>
            </a:r>
            <a:r>
              <a:rPr lang="en-US" sz="1450" dirty="0">
                <a:solidFill>
                  <a:srgbClr val="272525"/>
                </a:solidFill>
                <a:latin typeface="Inter" pitchFamily="34" charset="0"/>
                <a:ea typeface="Inter" pitchFamily="34" charset="-122"/>
                <a:cs typeface="Inter" pitchFamily="34" charset="-120"/>
              </a:rPr>
              <a:t> — Only 83 first-time buyers</a:t>
            </a:r>
            <a:endParaRPr lang="en-US" sz="1450" dirty="0"/>
          </a:p>
        </p:txBody>
      </p:sp>
      <p:sp>
        <p:nvSpPr>
          <p:cNvPr id="7" name="Shape 4"/>
          <p:cNvSpPr/>
          <p:nvPr/>
        </p:nvSpPr>
        <p:spPr>
          <a:xfrm>
            <a:off x="6332776" y="4763492"/>
            <a:ext cx="5203794" cy="1341834"/>
          </a:xfrm>
          <a:prstGeom prst="roundRect">
            <a:avLst>
              <a:gd name="adj" fmla="val 5916"/>
            </a:avLst>
          </a:prstGeom>
          <a:solidFill>
            <a:srgbClr val="CCEEFF"/>
          </a:solidFill>
          <a:ln/>
        </p:spPr>
      </p:sp>
      <p:pic>
        <p:nvPicPr>
          <p:cNvPr id="8" name="Image 1" descr="preencoded.png"/>
          <p:cNvPicPr>
            <a:picLocks noChangeAspect="1"/>
          </p:cNvPicPr>
          <p:nvPr/>
        </p:nvPicPr>
        <p:blipFill>
          <a:blip r:embed="rId4"/>
          <a:stretch>
            <a:fillRect/>
          </a:stretch>
        </p:blipFill>
        <p:spPr>
          <a:xfrm>
            <a:off x="6521783" y="5050234"/>
            <a:ext cx="236234" cy="189012"/>
          </a:xfrm>
          <a:prstGeom prst="rect">
            <a:avLst/>
          </a:prstGeom>
        </p:spPr>
      </p:pic>
      <p:sp>
        <p:nvSpPr>
          <p:cNvPr id="9" name="Text 5"/>
          <p:cNvSpPr/>
          <p:nvPr/>
        </p:nvSpPr>
        <p:spPr>
          <a:xfrm>
            <a:off x="6947024" y="4980781"/>
            <a:ext cx="4400539"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000000"/>
                </a:solidFill>
                <a:latin typeface="Inter" pitchFamily="34" charset="0"/>
                <a:ea typeface="Inter" pitchFamily="34" charset="-122"/>
                <a:cs typeface="Inter" pitchFamily="34" charset="-120"/>
              </a:rPr>
              <a:t>Of customers with 5+ purchases, 958 are subscribers vs 2,518 non-subscribers — repeat buyers show meaningful subscription uptake.</a:t>
            </a:r>
            <a:endParaRPr lang="en-US" sz="1450" dirty="0"/>
          </a:p>
        </p:txBody>
      </p:sp>
      <p:sp>
        <p:nvSpPr>
          <p:cNvPr id="11" name="Rectangle 10">
            <a:extLst>
              <a:ext uri="{FF2B5EF4-FFF2-40B4-BE49-F238E27FC236}">
                <a16:creationId xmlns:a16="http://schemas.microsoft.com/office/drawing/2014/main" id="{506B0AF6-934A-9967-960B-BF5D1F418B32}"/>
              </a:ext>
            </a:extLst>
          </p:cNvPr>
          <p:cNvSpPr/>
          <p:nvPr/>
        </p:nvSpPr>
        <p:spPr>
          <a:xfrm>
            <a:off x="10695708" y="6317952"/>
            <a:ext cx="1445491" cy="50310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891580"/>
            <a:ext cx="10868745" cy="620216"/>
          </a:xfrm>
          <a:prstGeom prst="rect">
            <a:avLst/>
          </a:prstGeom>
          <a:noFill/>
          <a:ln/>
        </p:spPr>
        <p:txBody>
          <a:bodyPr wrap="none" lIns="0" tIns="0" rIns="0" bIns="0" rtlCol="0" anchor="t"/>
          <a:lstStyle/>
          <a:p>
            <a:pPr marL="0" indent="0" algn="l">
              <a:lnSpc>
                <a:spcPct val="104000"/>
              </a:lnSpc>
              <a:buNone/>
            </a:pPr>
            <a:r>
              <a:rPr lang="en-US" sz="3900" b="1" dirty="0">
                <a:solidFill>
                  <a:srgbClr val="000000"/>
                </a:solidFill>
                <a:latin typeface="Petrona Bold" pitchFamily="34" charset="0"/>
                <a:ea typeface="Petrona Bold" pitchFamily="34" charset="-122"/>
                <a:cs typeface="Petrona Bold" pitchFamily="34" charset="-120"/>
              </a:rPr>
              <a:t>Revenue by Age Group</a:t>
            </a:r>
            <a:endParaRPr lang="en-US" sz="3900" dirty="0"/>
          </a:p>
        </p:txBody>
      </p:sp>
      <p:pic>
        <p:nvPicPr>
          <p:cNvPr id="3" name="Image 0" descr="preencoded.png"/>
          <p:cNvPicPr>
            <a:picLocks noChangeAspect="1"/>
          </p:cNvPicPr>
          <p:nvPr/>
        </p:nvPicPr>
        <p:blipFill>
          <a:blip r:embed="rId3"/>
          <a:stretch>
            <a:fillRect/>
          </a:stretch>
        </p:blipFill>
        <p:spPr>
          <a:xfrm>
            <a:off x="661475" y="2007890"/>
            <a:ext cx="5203794" cy="3745805"/>
          </a:xfrm>
          <a:prstGeom prst="rect">
            <a:avLst/>
          </a:prstGeom>
        </p:spPr>
      </p:pic>
      <p:sp>
        <p:nvSpPr>
          <p:cNvPr id="4" name="Text 1"/>
          <p:cNvSpPr/>
          <p:nvPr/>
        </p:nvSpPr>
        <p:spPr>
          <a:xfrm>
            <a:off x="6332776" y="1984276"/>
            <a:ext cx="5203794" cy="310059"/>
          </a:xfrm>
          <a:prstGeom prst="rect">
            <a:avLst/>
          </a:prstGeom>
          <a:noFill/>
          <a:ln/>
        </p:spPr>
        <p:txBody>
          <a:bodyPr wrap="none" lIns="0" tIns="0" rIns="0" bIns="0" rtlCol="0" anchor="t"/>
          <a:lstStyle/>
          <a:p>
            <a:pPr marL="0" indent="0" algn="l">
              <a:lnSpc>
                <a:spcPct val="104000"/>
              </a:lnSpc>
              <a:buNone/>
            </a:pPr>
            <a:r>
              <a:rPr lang="en-US" sz="1950" b="1" dirty="0">
                <a:solidFill>
                  <a:srgbClr val="000000"/>
                </a:solidFill>
                <a:latin typeface="Petrona Bold" pitchFamily="34" charset="0"/>
                <a:ea typeface="Petrona Bold" pitchFamily="34" charset="-122"/>
                <a:cs typeface="Petrona Bold" pitchFamily="34" charset="-120"/>
              </a:rPr>
              <a:t>Age Group Insights</a:t>
            </a:r>
            <a:endParaRPr lang="en-US" sz="1950" dirty="0"/>
          </a:p>
        </p:txBody>
      </p:sp>
      <p:sp>
        <p:nvSpPr>
          <p:cNvPr id="5" name="Text 2"/>
          <p:cNvSpPr/>
          <p:nvPr/>
        </p:nvSpPr>
        <p:spPr>
          <a:xfrm>
            <a:off x="6332776" y="2483346"/>
            <a:ext cx="5203794" cy="1682155"/>
          </a:xfrm>
          <a:prstGeom prst="rect">
            <a:avLst/>
          </a:prstGeom>
          <a:noFill/>
          <a:ln/>
        </p:spPr>
        <p:txBody>
          <a:bodyPr wrap="square" lIns="0" tIns="0" rIns="0" bIns="0" rtlCol="0" anchor="t">
            <a:normAutofit/>
          </a:bodyPr>
          <a:lstStyle/>
          <a:p>
            <a:pPr marL="0" indent="0" algn="l">
              <a:lnSpc>
                <a:spcPct val="133000"/>
              </a:lnSpc>
              <a:spcAft>
                <a:spcPts val="1300"/>
              </a:spcAft>
              <a:buNone/>
            </a:pPr>
            <a:r>
              <a:rPr lang="en-US" sz="1450" dirty="0">
                <a:solidFill>
                  <a:srgbClr val="272525"/>
                </a:solidFill>
                <a:latin typeface="Inter" pitchFamily="34" charset="0"/>
                <a:ea typeface="Inter" pitchFamily="34" charset="-122"/>
                <a:cs typeface="Inter" pitchFamily="34" charset="-120"/>
              </a:rPr>
              <a:t>Revenue is relatively evenly distributed across age groups, with </a:t>
            </a:r>
            <a:r>
              <a:rPr lang="en-US" sz="1450" b="1" dirty="0">
                <a:solidFill>
                  <a:srgbClr val="272525"/>
                </a:solidFill>
                <a:latin typeface="Inter Bold" pitchFamily="34" charset="0"/>
                <a:ea typeface="Inter Bold" pitchFamily="34" charset="-122"/>
                <a:cs typeface="Inter Bold" pitchFamily="34" charset="-120"/>
              </a:rPr>
              <a:t>Young Adults</a:t>
            </a:r>
            <a:r>
              <a:rPr lang="en-US" sz="1450" dirty="0">
                <a:solidFill>
                  <a:srgbClr val="272525"/>
                </a:solidFill>
                <a:latin typeface="Inter" pitchFamily="34" charset="0"/>
                <a:ea typeface="Inter" pitchFamily="34" charset="-122"/>
                <a:cs typeface="Inter" pitchFamily="34" charset="-120"/>
              </a:rPr>
              <a:t> leading at $62,143 and </a:t>
            </a:r>
            <a:r>
              <a:rPr lang="en-US" sz="1450" b="1" dirty="0">
                <a:solidFill>
                  <a:srgbClr val="272525"/>
                </a:solidFill>
                <a:latin typeface="Inter Bold" pitchFamily="34" charset="0"/>
                <a:ea typeface="Inter Bold" pitchFamily="34" charset="-122"/>
                <a:cs typeface="Inter Bold" pitchFamily="34" charset="-120"/>
              </a:rPr>
              <a:t>Seniors</a:t>
            </a:r>
            <a:r>
              <a:rPr lang="en-US" sz="1450" dirty="0">
                <a:solidFill>
                  <a:srgbClr val="272525"/>
                </a:solidFill>
                <a:latin typeface="Inter" pitchFamily="34" charset="0"/>
                <a:ea typeface="Inter" pitchFamily="34" charset="-122"/>
                <a:cs typeface="Inter" pitchFamily="34" charset="-120"/>
              </a:rPr>
              <a:t> contributing the least at $55,763.</a:t>
            </a:r>
            <a:endParaRPr lang="en-US" sz="1450" dirty="0"/>
          </a:p>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Top products by category: </a:t>
            </a:r>
            <a:r>
              <a:rPr lang="en-US" sz="1450" b="1" dirty="0">
                <a:solidFill>
                  <a:srgbClr val="272525"/>
                </a:solidFill>
                <a:latin typeface="Inter Bold" pitchFamily="34" charset="0"/>
                <a:ea typeface="Inter Bold" pitchFamily="34" charset="-122"/>
                <a:cs typeface="Inter Bold" pitchFamily="34" charset="-120"/>
              </a:rPr>
              <a:t>Jewelry</a:t>
            </a:r>
            <a:r>
              <a:rPr lang="en-US" sz="1450" dirty="0">
                <a:solidFill>
                  <a:srgbClr val="272525"/>
                </a:solidFill>
                <a:latin typeface="Inter" pitchFamily="34" charset="0"/>
                <a:ea typeface="Inter" pitchFamily="34" charset="-122"/>
                <a:cs typeface="Inter" pitchFamily="34" charset="-120"/>
              </a:rPr>
              <a:t> (Accessories), </a:t>
            </a:r>
            <a:r>
              <a:rPr lang="en-US" sz="1450" b="1" dirty="0">
                <a:solidFill>
                  <a:srgbClr val="272525"/>
                </a:solidFill>
                <a:latin typeface="Inter Bold" pitchFamily="34" charset="0"/>
                <a:ea typeface="Inter Bold" pitchFamily="34" charset="-122"/>
                <a:cs typeface="Inter Bold" pitchFamily="34" charset="-120"/>
              </a:rPr>
              <a:t>Blouse</a:t>
            </a:r>
            <a:r>
              <a:rPr lang="en-US" sz="1450" dirty="0">
                <a:solidFill>
                  <a:srgbClr val="272525"/>
                </a:solidFill>
                <a:latin typeface="Inter" pitchFamily="34" charset="0"/>
                <a:ea typeface="Inter" pitchFamily="34" charset="-122"/>
                <a:cs typeface="Inter" pitchFamily="34" charset="-120"/>
              </a:rPr>
              <a:t> (Clothing), </a:t>
            </a:r>
            <a:r>
              <a:rPr lang="en-US" sz="1450" b="1" dirty="0">
                <a:solidFill>
                  <a:srgbClr val="272525"/>
                </a:solidFill>
                <a:latin typeface="Inter Bold" pitchFamily="34" charset="0"/>
                <a:ea typeface="Inter Bold" pitchFamily="34" charset="-122"/>
                <a:cs typeface="Inter Bold" pitchFamily="34" charset="-120"/>
              </a:rPr>
              <a:t>Sandals</a:t>
            </a:r>
            <a:r>
              <a:rPr lang="en-US" sz="1450" dirty="0">
                <a:solidFill>
                  <a:srgbClr val="272525"/>
                </a:solidFill>
                <a:latin typeface="Inter" pitchFamily="34" charset="0"/>
                <a:ea typeface="Inter" pitchFamily="34" charset="-122"/>
                <a:cs typeface="Inter" pitchFamily="34" charset="-120"/>
              </a:rPr>
              <a:t> (Footwear), and </a:t>
            </a:r>
            <a:r>
              <a:rPr lang="en-US" sz="1450" b="1" dirty="0">
                <a:solidFill>
                  <a:srgbClr val="272525"/>
                </a:solidFill>
                <a:latin typeface="Inter Bold" pitchFamily="34" charset="0"/>
                <a:ea typeface="Inter Bold" pitchFamily="34" charset="-122"/>
                <a:cs typeface="Inter Bold" pitchFamily="34" charset="-120"/>
              </a:rPr>
              <a:t>Jacket</a:t>
            </a:r>
            <a:r>
              <a:rPr lang="en-US" sz="1450" dirty="0">
                <a:solidFill>
                  <a:srgbClr val="272525"/>
                </a:solidFill>
                <a:latin typeface="Inter" pitchFamily="34" charset="0"/>
                <a:ea typeface="Inter" pitchFamily="34" charset="-122"/>
                <a:cs typeface="Inter" pitchFamily="34" charset="-120"/>
              </a:rPr>
              <a:t> (Outerwear).</a:t>
            </a:r>
            <a:endParaRPr lang="en-US" sz="1450" dirty="0"/>
          </a:p>
        </p:txBody>
      </p:sp>
      <p:sp>
        <p:nvSpPr>
          <p:cNvPr id="10" name="Rectangle 9">
            <a:extLst>
              <a:ext uri="{FF2B5EF4-FFF2-40B4-BE49-F238E27FC236}">
                <a16:creationId xmlns:a16="http://schemas.microsoft.com/office/drawing/2014/main" id="{3176AEE5-4719-CE7B-894B-5679F46441E9}"/>
              </a:ext>
            </a:extLst>
          </p:cNvPr>
          <p:cNvSpPr/>
          <p:nvPr/>
        </p:nvSpPr>
        <p:spPr>
          <a:xfrm>
            <a:off x="10695708" y="5906654"/>
            <a:ext cx="1445491"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7619809" cy="6858000"/>
          </a:xfrm>
          <a:prstGeom prst="rect">
            <a:avLst/>
          </a:prstGeom>
        </p:spPr>
      </p:pic>
      <p:pic>
        <p:nvPicPr>
          <p:cNvPr id="3" name="Image 1" descr="preencoded.png"/>
          <p:cNvPicPr>
            <a:picLocks noChangeAspect="1"/>
          </p:cNvPicPr>
          <p:nvPr/>
        </p:nvPicPr>
        <p:blipFill>
          <a:blip r:embed="rId4"/>
          <a:stretch>
            <a:fillRect/>
          </a:stretch>
        </p:blipFill>
        <p:spPr>
          <a:xfrm>
            <a:off x="82746" y="1338560"/>
            <a:ext cx="7454317" cy="4180780"/>
          </a:xfrm>
          <a:prstGeom prst="rect">
            <a:avLst/>
          </a:prstGeom>
        </p:spPr>
      </p:pic>
      <p:sp>
        <p:nvSpPr>
          <p:cNvPr id="4" name="Text 0"/>
          <p:cNvSpPr/>
          <p:nvPr/>
        </p:nvSpPr>
        <p:spPr>
          <a:xfrm>
            <a:off x="8281284" y="564654"/>
            <a:ext cx="3248936" cy="1628180"/>
          </a:xfrm>
          <a:prstGeom prst="rect">
            <a:avLst/>
          </a:prstGeom>
          <a:noFill/>
          <a:ln/>
        </p:spPr>
        <p:txBody>
          <a:bodyPr wrap="square" lIns="0" tIns="0" rIns="0" bIns="0" rtlCol="0" anchor="t">
            <a:normAutofit/>
          </a:bodyPr>
          <a:lstStyle/>
          <a:p>
            <a:pPr marL="0" indent="0" algn="l">
              <a:lnSpc>
                <a:spcPct val="104000"/>
              </a:lnSpc>
              <a:buNone/>
            </a:pPr>
            <a:r>
              <a:rPr lang="en-US" sz="3400" b="1" dirty="0">
                <a:solidFill>
                  <a:srgbClr val="000000"/>
                </a:solidFill>
                <a:latin typeface="Petrona Bold" pitchFamily="34" charset="0"/>
                <a:ea typeface="Petrona Bold" pitchFamily="34" charset="-122"/>
                <a:cs typeface="Petrona Bold" pitchFamily="34" charset="-120"/>
              </a:rPr>
              <a:t>Interactive Power BI Dashboard</a:t>
            </a:r>
            <a:endParaRPr lang="en-US" sz="3400" dirty="0"/>
          </a:p>
        </p:txBody>
      </p:sp>
      <p:sp>
        <p:nvSpPr>
          <p:cNvPr id="5" name="Text 1"/>
          <p:cNvSpPr/>
          <p:nvPr/>
        </p:nvSpPr>
        <p:spPr>
          <a:xfrm>
            <a:off x="8281284" y="2409825"/>
            <a:ext cx="3248936" cy="3883422"/>
          </a:xfrm>
          <a:prstGeom prst="rect">
            <a:avLst/>
          </a:prstGeom>
          <a:noFill/>
          <a:ln/>
        </p:spPr>
        <p:txBody>
          <a:bodyPr wrap="square" lIns="0" tIns="0" rIns="0" bIns="0" rtlCol="0" anchor="t">
            <a:normAutofit/>
          </a:bodyPr>
          <a:lstStyle/>
          <a:p>
            <a:pPr marL="0" indent="0" algn="l">
              <a:lnSpc>
                <a:spcPct val="125000"/>
              </a:lnSpc>
              <a:spcAft>
                <a:spcPts val="1250"/>
              </a:spcAft>
              <a:buNone/>
            </a:pPr>
            <a:r>
              <a:rPr lang="en-US" sz="1300" dirty="0">
                <a:solidFill>
                  <a:srgbClr val="272525"/>
                </a:solidFill>
                <a:latin typeface="Inter" pitchFamily="34" charset="0"/>
                <a:ea typeface="Inter" pitchFamily="34" charset="-122"/>
                <a:cs typeface="Inter" pitchFamily="34" charset="-120"/>
              </a:rPr>
              <a:t>The Power BI dashboard provides a dynamic, at-a-glance overview of customer shopping behavior. It consolidates key metrics such as </a:t>
            </a:r>
            <a:r>
              <a:rPr lang="en-US" sz="1300" b="1" dirty="0">
                <a:solidFill>
                  <a:srgbClr val="272525"/>
                </a:solidFill>
                <a:latin typeface="Inter Bold" pitchFamily="34" charset="0"/>
                <a:ea typeface="Inter Bold" pitchFamily="34" charset="-122"/>
                <a:cs typeface="Inter Bold" pitchFamily="34" charset="-120"/>
              </a:rPr>
              <a:t>3,900 total purchases</a:t>
            </a:r>
            <a:r>
              <a:rPr lang="en-US" sz="1300" dirty="0">
                <a:solidFill>
                  <a:srgbClr val="272525"/>
                </a:solidFill>
                <a:latin typeface="Inter" pitchFamily="34" charset="0"/>
                <a:ea typeface="Inter" pitchFamily="34" charset="-122"/>
                <a:cs typeface="Inter" pitchFamily="34" charset="-120"/>
              </a:rPr>
              <a:t>, an </a:t>
            </a:r>
            <a:r>
              <a:rPr lang="en-US" sz="1300" b="1" dirty="0">
                <a:solidFill>
                  <a:srgbClr val="272525"/>
                </a:solidFill>
                <a:latin typeface="Inter Bold" pitchFamily="34" charset="0"/>
                <a:ea typeface="Inter Bold" pitchFamily="34" charset="-122"/>
                <a:cs typeface="Inter Bold" pitchFamily="34" charset="-120"/>
              </a:rPr>
              <a:t>average purchase value of $59.76</a:t>
            </a:r>
            <a:r>
              <a:rPr lang="en-US" sz="1300" dirty="0">
                <a:solidFill>
                  <a:srgbClr val="272525"/>
                </a:solidFill>
                <a:latin typeface="Inter" pitchFamily="34" charset="0"/>
                <a:ea typeface="Inter" pitchFamily="34" charset="-122"/>
                <a:cs typeface="Inter" pitchFamily="34" charset="-120"/>
              </a:rPr>
              <a:t>, and an average review rating of </a:t>
            </a:r>
            <a:r>
              <a:rPr lang="en-US" sz="1300" b="1" dirty="0">
                <a:solidFill>
                  <a:srgbClr val="272525"/>
                </a:solidFill>
                <a:latin typeface="Inter Bold" pitchFamily="34" charset="0"/>
                <a:ea typeface="Inter Bold" pitchFamily="34" charset="-122"/>
                <a:cs typeface="Inter Bold" pitchFamily="34" charset="-120"/>
              </a:rPr>
              <a:t>3.75</a:t>
            </a:r>
            <a:r>
              <a:rPr lang="en-US" sz="1300" dirty="0">
                <a:solidFill>
                  <a:srgbClr val="272525"/>
                </a:solidFill>
                <a:latin typeface="Inter" pitchFamily="34" charset="0"/>
                <a:ea typeface="Inter" pitchFamily="34" charset="-122"/>
                <a:cs typeface="Inter" pitchFamily="34" charset="-120"/>
              </a:rPr>
              <a:t>.</a:t>
            </a:r>
            <a:endParaRPr lang="en-US" sz="1300" dirty="0"/>
          </a:p>
          <a:p>
            <a:pPr marL="0" indent="0" algn="l">
              <a:lnSpc>
                <a:spcPct val="125000"/>
              </a:lnSpc>
              <a:buNone/>
            </a:pPr>
            <a:r>
              <a:rPr lang="en-US" sz="1300" dirty="0">
                <a:solidFill>
                  <a:srgbClr val="272525"/>
                </a:solidFill>
                <a:latin typeface="Inter" pitchFamily="34" charset="0"/>
                <a:ea typeface="Inter" pitchFamily="34" charset="-122"/>
                <a:cs typeface="Inter" pitchFamily="34" charset="-120"/>
              </a:rPr>
              <a:t>Visualizations include subscription status via a pie chart, revenue breakdown by product category and age group, and sales trends across different seasons. These actionable insights are crucial for refining marketing, product, and sales strategies to boost growth and customer engagement.</a:t>
            </a:r>
            <a:endParaRPr lang="en-US" sz="1300" dirty="0"/>
          </a:p>
        </p:txBody>
      </p:sp>
      <p:sp>
        <p:nvSpPr>
          <p:cNvPr id="7" name="Rectangle 6">
            <a:extLst>
              <a:ext uri="{FF2B5EF4-FFF2-40B4-BE49-F238E27FC236}">
                <a16:creationId xmlns:a16="http://schemas.microsoft.com/office/drawing/2014/main" id="{DCD51697-7AB0-684A-1883-AE7D67C0C42B}"/>
              </a:ext>
            </a:extLst>
          </p:cNvPr>
          <p:cNvSpPr/>
          <p:nvPr/>
        </p:nvSpPr>
        <p:spPr>
          <a:xfrm>
            <a:off x="10695708" y="5906654"/>
            <a:ext cx="1445491"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707529"/>
            <a:ext cx="10868745" cy="620216"/>
          </a:xfrm>
          <a:prstGeom prst="rect">
            <a:avLst/>
          </a:prstGeom>
          <a:noFill/>
          <a:ln/>
        </p:spPr>
        <p:txBody>
          <a:bodyPr wrap="none" lIns="0" tIns="0" rIns="0" bIns="0" rtlCol="0" anchor="t"/>
          <a:lstStyle/>
          <a:p>
            <a:pPr marL="0" indent="0" algn="l">
              <a:lnSpc>
                <a:spcPct val="104000"/>
              </a:lnSpc>
              <a:buNone/>
            </a:pPr>
            <a:r>
              <a:rPr lang="en-US" sz="3900" b="1" dirty="0">
                <a:solidFill>
                  <a:srgbClr val="000000"/>
                </a:solidFill>
                <a:latin typeface="Petrona Bold" pitchFamily="34" charset="0"/>
                <a:ea typeface="Petrona Bold" pitchFamily="34" charset="-122"/>
                <a:cs typeface="Petrona Bold" pitchFamily="34" charset="-120"/>
              </a:rPr>
              <a:t>Recommendations</a:t>
            </a:r>
            <a:endParaRPr lang="en-US" sz="3900" dirty="0"/>
          </a:p>
        </p:txBody>
      </p:sp>
      <p:sp>
        <p:nvSpPr>
          <p:cNvPr id="3" name="Shape 1"/>
          <p:cNvSpPr/>
          <p:nvPr/>
        </p:nvSpPr>
        <p:spPr>
          <a:xfrm>
            <a:off x="661475" y="1611213"/>
            <a:ext cx="5339820" cy="2175073"/>
          </a:xfrm>
          <a:prstGeom prst="roundRect">
            <a:avLst>
              <a:gd name="adj" fmla="val 3650"/>
            </a:avLst>
          </a:prstGeom>
          <a:solidFill>
            <a:srgbClr val="CCEEFF"/>
          </a:solidFill>
          <a:ln w="6350">
            <a:solidFill>
              <a:srgbClr val="B2D4E5"/>
            </a:solidFill>
            <a:prstDash val="solid"/>
          </a:ln>
        </p:spPr>
      </p:sp>
      <p:sp>
        <p:nvSpPr>
          <p:cNvPr id="4" name="Shape 2"/>
          <p:cNvSpPr/>
          <p:nvPr/>
        </p:nvSpPr>
        <p:spPr>
          <a:xfrm>
            <a:off x="856832" y="1806575"/>
            <a:ext cx="567021" cy="567035"/>
          </a:xfrm>
          <a:prstGeom prst="ellipse">
            <a:avLst/>
          </a:prstGeom>
          <a:solidFill>
            <a:srgbClr val="007EBD"/>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2800" y="1962448"/>
            <a:ext cx="255085" cy="255091"/>
          </a:xfrm>
          <a:prstGeom prst="rect">
            <a:avLst/>
          </a:prstGeom>
        </p:spPr>
      </p:pic>
      <p:sp>
        <p:nvSpPr>
          <p:cNvPr id="6" name="Text 3"/>
          <p:cNvSpPr/>
          <p:nvPr/>
        </p:nvSpPr>
        <p:spPr>
          <a:xfrm>
            <a:off x="856832" y="2562622"/>
            <a:ext cx="4949106" cy="310059"/>
          </a:xfrm>
          <a:prstGeom prst="rect">
            <a:avLst/>
          </a:prstGeom>
          <a:noFill/>
          <a:ln/>
        </p:spPr>
        <p:txBody>
          <a:bodyPr wrap="none" lIns="0" tIns="0" rIns="0" bIns="0" rtlCol="0" anchor="t"/>
          <a:lstStyle/>
          <a:p>
            <a:pPr marL="0" indent="0" algn="l">
              <a:lnSpc>
                <a:spcPct val="104000"/>
              </a:lnSpc>
              <a:buNone/>
            </a:pPr>
            <a:r>
              <a:rPr lang="en-US" sz="1950" b="1" dirty="0">
                <a:solidFill>
                  <a:srgbClr val="272525"/>
                </a:solidFill>
                <a:latin typeface="Petrona Bold" pitchFamily="34" charset="0"/>
                <a:ea typeface="Petrona Bold" pitchFamily="34" charset="-122"/>
                <a:cs typeface="Petrona Bold" pitchFamily="34" charset="-120"/>
              </a:rPr>
              <a:t>Boost Subscriptions</a:t>
            </a:r>
            <a:endParaRPr lang="en-US" sz="1950" dirty="0"/>
          </a:p>
        </p:txBody>
      </p:sp>
      <p:sp>
        <p:nvSpPr>
          <p:cNvPr id="7" name="Text 4"/>
          <p:cNvSpPr/>
          <p:nvPr/>
        </p:nvSpPr>
        <p:spPr>
          <a:xfrm>
            <a:off x="856832" y="2986087"/>
            <a:ext cx="4949106"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Promote exclusive subscriber benefits to grow the 27% base.</a:t>
            </a:r>
            <a:endParaRPr lang="en-US" sz="1450" dirty="0"/>
          </a:p>
        </p:txBody>
      </p:sp>
      <p:sp>
        <p:nvSpPr>
          <p:cNvPr id="8" name="Shape 5"/>
          <p:cNvSpPr/>
          <p:nvPr/>
        </p:nvSpPr>
        <p:spPr>
          <a:xfrm>
            <a:off x="6190301" y="1611213"/>
            <a:ext cx="5339919" cy="2175073"/>
          </a:xfrm>
          <a:prstGeom prst="roundRect">
            <a:avLst>
              <a:gd name="adj" fmla="val 3650"/>
            </a:avLst>
          </a:prstGeom>
          <a:solidFill>
            <a:srgbClr val="CCEEFF"/>
          </a:solidFill>
          <a:ln w="6350">
            <a:solidFill>
              <a:srgbClr val="B2D4E5"/>
            </a:solidFill>
            <a:prstDash val="solid"/>
          </a:ln>
        </p:spPr>
      </p:sp>
      <p:sp>
        <p:nvSpPr>
          <p:cNvPr id="9" name="Shape 6"/>
          <p:cNvSpPr/>
          <p:nvPr/>
        </p:nvSpPr>
        <p:spPr>
          <a:xfrm>
            <a:off x="6385658" y="1806575"/>
            <a:ext cx="567021" cy="567035"/>
          </a:xfrm>
          <a:prstGeom prst="ellipse">
            <a:avLst/>
          </a:prstGeom>
          <a:solidFill>
            <a:srgbClr val="007EBD"/>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41626" y="1962448"/>
            <a:ext cx="255085" cy="255091"/>
          </a:xfrm>
          <a:prstGeom prst="rect">
            <a:avLst/>
          </a:prstGeom>
        </p:spPr>
      </p:pic>
      <p:sp>
        <p:nvSpPr>
          <p:cNvPr id="11" name="Text 7"/>
          <p:cNvSpPr/>
          <p:nvPr/>
        </p:nvSpPr>
        <p:spPr>
          <a:xfrm>
            <a:off x="6385658" y="2562622"/>
            <a:ext cx="4949205" cy="310059"/>
          </a:xfrm>
          <a:prstGeom prst="rect">
            <a:avLst/>
          </a:prstGeom>
          <a:noFill/>
          <a:ln/>
        </p:spPr>
        <p:txBody>
          <a:bodyPr wrap="none" lIns="0" tIns="0" rIns="0" bIns="0" rtlCol="0" anchor="t"/>
          <a:lstStyle/>
          <a:p>
            <a:pPr marL="0" indent="0" algn="l">
              <a:lnSpc>
                <a:spcPct val="104000"/>
              </a:lnSpc>
              <a:buNone/>
            </a:pPr>
            <a:r>
              <a:rPr lang="en-US" sz="1950" b="1" dirty="0">
                <a:solidFill>
                  <a:srgbClr val="272525"/>
                </a:solidFill>
                <a:latin typeface="Petrona Bold" pitchFamily="34" charset="0"/>
                <a:ea typeface="Petrona Bold" pitchFamily="34" charset="-122"/>
                <a:cs typeface="Petrona Bold" pitchFamily="34" charset="-120"/>
              </a:rPr>
              <a:t>Loyalty Programs</a:t>
            </a:r>
            <a:endParaRPr lang="en-US" sz="1950" dirty="0"/>
          </a:p>
        </p:txBody>
      </p:sp>
      <p:sp>
        <p:nvSpPr>
          <p:cNvPr id="12" name="Text 8"/>
          <p:cNvSpPr/>
          <p:nvPr/>
        </p:nvSpPr>
        <p:spPr>
          <a:xfrm>
            <a:off x="6385658" y="2986087"/>
            <a:ext cx="494920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Reward repeat buyers to move them into the "Loyal" segment.</a:t>
            </a:r>
            <a:endParaRPr lang="en-US" sz="1450" dirty="0"/>
          </a:p>
        </p:txBody>
      </p:sp>
      <p:sp>
        <p:nvSpPr>
          <p:cNvPr id="13" name="Shape 9"/>
          <p:cNvSpPr/>
          <p:nvPr/>
        </p:nvSpPr>
        <p:spPr>
          <a:xfrm>
            <a:off x="661475" y="3975298"/>
            <a:ext cx="5339820" cy="2175073"/>
          </a:xfrm>
          <a:prstGeom prst="roundRect">
            <a:avLst>
              <a:gd name="adj" fmla="val 3650"/>
            </a:avLst>
          </a:prstGeom>
          <a:solidFill>
            <a:srgbClr val="CCEEFF"/>
          </a:solidFill>
          <a:ln w="6350">
            <a:solidFill>
              <a:srgbClr val="B2D4E5"/>
            </a:solidFill>
            <a:prstDash val="solid"/>
          </a:ln>
        </p:spPr>
      </p:sp>
      <p:sp>
        <p:nvSpPr>
          <p:cNvPr id="14" name="Shape 10"/>
          <p:cNvSpPr/>
          <p:nvPr/>
        </p:nvSpPr>
        <p:spPr>
          <a:xfrm>
            <a:off x="856832" y="4170660"/>
            <a:ext cx="567021" cy="567035"/>
          </a:xfrm>
          <a:prstGeom prst="ellipse">
            <a:avLst/>
          </a:prstGeom>
          <a:solidFill>
            <a:srgbClr val="007EBD"/>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2800" y="4326533"/>
            <a:ext cx="255085" cy="255091"/>
          </a:xfrm>
          <a:prstGeom prst="rect">
            <a:avLst/>
          </a:prstGeom>
        </p:spPr>
      </p:pic>
      <p:sp>
        <p:nvSpPr>
          <p:cNvPr id="16" name="Text 11"/>
          <p:cNvSpPr/>
          <p:nvPr/>
        </p:nvSpPr>
        <p:spPr>
          <a:xfrm>
            <a:off x="856832" y="4926707"/>
            <a:ext cx="4949106" cy="310059"/>
          </a:xfrm>
          <a:prstGeom prst="rect">
            <a:avLst/>
          </a:prstGeom>
          <a:noFill/>
          <a:ln/>
        </p:spPr>
        <p:txBody>
          <a:bodyPr wrap="none" lIns="0" tIns="0" rIns="0" bIns="0" rtlCol="0" anchor="t"/>
          <a:lstStyle/>
          <a:p>
            <a:pPr marL="0" indent="0" algn="l">
              <a:lnSpc>
                <a:spcPct val="104000"/>
              </a:lnSpc>
              <a:buNone/>
            </a:pPr>
            <a:r>
              <a:rPr lang="en-US" sz="1950" b="1" dirty="0">
                <a:solidFill>
                  <a:srgbClr val="272525"/>
                </a:solidFill>
                <a:latin typeface="Petrona Bold" pitchFamily="34" charset="0"/>
                <a:ea typeface="Petrona Bold" pitchFamily="34" charset="-122"/>
                <a:cs typeface="Petrona Bold" pitchFamily="34" charset="-120"/>
              </a:rPr>
              <a:t>Review Discount Policy</a:t>
            </a:r>
            <a:endParaRPr lang="en-US" sz="1950" dirty="0"/>
          </a:p>
        </p:txBody>
      </p:sp>
      <p:sp>
        <p:nvSpPr>
          <p:cNvPr id="17" name="Text 12"/>
          <p:cNvSpPr/>
          <p:nvPr/>
        </p:nvSpPr>
        <p:spPr>
          <a:xfrm>
            <a:off x="856832" y="5350173"/>
            <a:ext cx="4949106"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Balance sales boosts with margin control on discount-heavy items.</a:t>
            </a:r>
            <a:endParaRPr lang="en-US" sz="1450" dirty="0"/>
          </a:p>
        </p:txBody>
      </p:sp>
      <p:sp>
        <p:nvSpPr>
          <p:cNvPr id="18" name="Shape 13"/>
          <p:cNvSpPr/>
          <p:nvPr/>
        </p:nvSpPr>
        <p:spPr>
          <a:xfrm>
            <a:off x="6190301" y="3975298"/>
            <a:ext cx="5339919" cy="2175073"/>
          </a:xfrm>
          <a:prstGeom prst="roundRect">
            <a:avLst>
              <a:gd name="adj" fmla="val 3650"/>
            </a:avLst>
          </a:prstGeom>
          <a:solidFill>
            <a:srgbClr val="CCEEFF"/>
          </a:solidFill>
          <a:ln w="6350">
            <a:solidFill>
              <a:srgbClr val="B2D4E5"/>
            </a:solidFill>
            <a:prstDash val="solid"/>
          </a:ln>
        </p:spPr>
      </p:sp>
      <p:sp>
        <p:nvSpPr>
          <p:cNvPr id="19" name="Shape 14"/>
          <p:cNvSpPr/>
          <p:nvPr/>
        </p:nvSpPr>
        <p:spPr>
          <a:xfrm>
            <a:off x="6385658" y="4170660"/>
            <a:ext cx="567021" cy="567035"/>
          </a:xfrm>
          <a:prstGeom prst="ellipse">
            <a:avLst/>
          </a:prstGeom>
          <a:solidFill>
            <a:srgbClr val="007EBD"/>
          </a:solidFill>
          <a:ln/>
        </p:spPr>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41626" y="4326533"/>
            <a:ext cx="255085" cy="255091"/>
          </a:xfrm>
          <a:prstGeom prst="rect">
            <a:avLst/>
          </a:prstGeom>
        </p:spPr>
      </p:pic>
      <p:sp>
        <p:nvSpPr>
          <p:cNvPr id="21" name="Text 15"/>
          <p:cNvSpPr/>
          <p:nvPr/>
        </p:nvSpPr>
        <p:spPr>
          <a:xfrm>
            <a:off x="6385658" y="4926707"/>
            <a:ext cx="4949205" cy="310059"/>
          </a:xfrm>
          <a:prstGeom prst="rect">
            <a:avLst/>
          </a:prstGeom>
          <a:noFill/>
          <a:ln/>
        </p:spPr>
        <p:txBody>
          <a:bodyPr wrap="none" lIns="0" tIns="0" rIns="0" bIns="0" rtlCol="0" anchor="t"/>
          <a:lstStyle/>
          <a:p>
            <a:pPr marL="0" indent="0" algn="l">
              <a:lnSpc>
                <a:spcPct val="104000"/>
              </a:lnSpc>
              <a:buNone/>
            </a:pPr>
            <a:r>
              <a:rPr lang="en-US" sz="1950" b="1" dirty="0">
                <a:solidFill>
                  <a:srgbClr val="272525"/>
                </a:solidFill>
                <a:latin typeface="Petrona Bold" pitchFamily="34" charset="0"/>
                <a:ea typeface="Petrona Bold" pitchFamily="34" charset="-122"/>
                <a:cs typeface="Petrona Bold" pitchFamily="34" charset="-120"/>
              </a:rPr>
              <a:t>Targeted Marketing</a:t>
            </a:r>
            <a:endParaRPr lang="en-US" sz="1950" dirty="0"/>
          </a:p>
        </p:txBody>
      </p:sp>
      <p:sp>
        <p:nvSpPr>
          <p:cNvPr id="22" name="Text 16"/>
          <p:cNvSpPr/>
          <p:nvPr/>
        </p:nvSpPr>
        <p:spPr>
          <a:xfrm>
            <a:off x="6385658" y="5350173"/>
            <a:ext cx="494920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Focus on high-revenue age groups and express-shipping users.</a:t>
            </a:r>
            <a:endParaRPr lang="en-US" sz="1450" dirty="0"/>
          </a:p>
        </p:txBody>
      </p:sp>
      <p:sp>
        <p:nvSpPr>
          <p:cNvPr id="24" name="Rectangle 23">
            <a:extLst>
              <a:ext uri="{FF2B5EF4-FFF2-40B4-BE49-F238E27FC236}">
                <a16:creationId xmlns:a16="http://schemas.microsoft.com/office/drawing/2014/main" id="{75B7E38C-1C51-9F47-CC60-58D50261123F}"/>
              </a:ext>
            </a:extLst>
          </p:cNvPr>
          <p:cNvSpPr/>
          <p:nvPr/>
        </p:nvSpPr>
        <p:spPr>
          <a:xfrm>
            <a:off x="10695708" y="6339382"/>
            <a:ext cx="1445491" cy="4816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557</Words>
  <Application>Microsoft Office PowerPoint</Application>
  <PresentationFormat>Widescreen</PresentationFormat>
  <Paragraphs>74</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Consolas</vt:lpstr>
      <vt:lpstr>Inter</vt:lpstr>
      <vt:lpstr>Inter Bold</vt:lpstr>
      <vt:lpstr>Arial</vt:lpstr>
      <vt:lpstr>Petrona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Sindhu</dc:creator>
  <cp:lastModifiedBy>Sindhu M</cp:lastModifiedBy>
  <cp:revision>2</cp:revision>
  <dcterms:created xsi:type="dcterms:W3CDTF">2026-09-16T07:29:42Z</dcterms:created>
  <dcterms:modified xsi:type="dcterms:W3CDTF">2026-09-16T07:33:29Z</dcterms:modified>
</cp:coreProperties>
</file>